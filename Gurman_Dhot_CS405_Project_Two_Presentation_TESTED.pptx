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5"/>
  </p:notesMasterIdLst>
  <p:sldIdLst>
    <p:sldId id="256" r:id="rId5"/>
    <p:sldId id="257" r:id="rId6"/>
    <p:sldId id="258" r:id="rId7"/>
    <p:sldId id="259" r:id="rId8"/>
    <p:sldId id="260" r:id="rId9"/>
    <p:sldId id="261" r:id="rId10"/>
    <p:sldId id="262" r:id="rId11"/>
    <p:sldId id="263" r:id="rId12"/>
    <p:sldId id="270" r:id="rId13"/>
    <p:sldId id="271" r:id="rId14"/>
    <p:sldId id="272" r:id="rId15"/>
    <p:sldId id="273" r:id="rId16"/>
    <p:sldId id="274" r:id="rId17"/>
    <p:sldId id="275" r:id="rId18"/>
    <p:sldId id="264" r:id="rId19"/>
    <p:sldId id="265" r:id="rId20"/>
    <p:sldId id="266" r:id="rId21"/>
    <p:sldId id="267" r:id="rId22"/>
    <p:sldId id="268" r:id="rId23"/>
    <p:sldId id="269" r:id="rId24"/>
  </p:sldIdLst>
  <p:sldSz cx="12192000" cy="6858000"/>
  <p:notesSz cx="6858000" cy="9144000"/>
  <p:embeddedFontLst>
    <p:embeddedFont>
      <p:font typeface="Century Gothic" panose="020B0502020202020204" pitchFamily="34" charset="0"/>
      <p:regular r:id="rId26"/>
      <p:bold r:id="rId27"/>
      <p:italic r:id="rId28"/>
      <p:boldItalic r:id="rId29"/>
    </p:embeddedFont>
  </p:embeddedFontLst>
  <p:custDataLst>
    <p:tags r:id="rId30"/>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1"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1.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4.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3.fntdata"/><Relationship Id="rId10" Type="http://schemas.openxmlformats.org/officeDocument/2006/relationships/slide" Target="slides/slide6.xml"/><Relationship Id="rId19" Type="http://schemas.openxmlformats.org/officeDocument/2006/relationships/slide" Target="slides/slide15.xml"/><Relationship Id="rId31" Type="http://customschemas.google.com/relationships/presentationmetadata" Target="meta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2.fntdata"/><Relationship Id="rId30" Type="http://schemas.openxmlformats.org/officeDocument/2006/relationships/tags" Target="tags/tag1.xml"/><Relationship Id="rId35" Type="http://schemas.openxmlformats.org/officeDocument/2006/relationships/tableStyles" Target="tableStyle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3.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82296" tIns="54864" rIns="82296" bIns="36576" anchor="t" anchorCtr="0">
            <a:normAutofit/>
          </a:bodyPr>
          <a:lstStyle/>
          <a:p>
            <a:pPr marL="0" lvl="0" indent="0" algn="l" rtl="0">
              <a:lnSpc>
                <a:spcPct val="70000"/>
              </a:lnSpc>
              <a:spcBef>
                <a:spcPts val="0"/>
              </a:spcBef>
              <a:spcAft>
                <a:spcPts val="1000"/>
              </a:spcAft>
              <a:buClr>
                <a:schemeClr val="lt1"/>
              </a:buClr>
              <a:buSzPts val="1850"/>
              <a:buNone/>
            </a:pPr>
            <a:r>
              <a:rPr sz="2400" b="0">
                <a:solidFill>
                  <a:srgbClr val="F8FBF7"/>
                </a:solidFill>
                <a:latin typeface="Aptos"/>
              </a:rPr>
              <a:t>SECURITY POLICY PRESENTATION</a:t>
            </a:r>
            <a:endParaRPr/>
          </a:p>
          <a:p>
            <a:pPr algn="l">
              <a:spcAft>
                <a:spcPts val="1000"/>
              </a:spcAft>
            </a:pPr>
            <a:r>
              <a:rPr sz="2400" b="0">
                <a:solidFill>
                  <a:srgbClr val="F8FBF7"/>
                </a:solidFill>
                <a:latin typeface="Aptos"/>
              </a:rPr>
              <a:t>Gurman Dhot  |  CS 405  |  October 18, 2026</a:t>
            </a:r>
          </a:p>
          <a:p>
            <a:pPr algn="l">
              <a:spcAft>
                <a:spcPts val="1000"/>
              </a:spcAft>
            </a:pPr>
            <a:r>
              <a:rPr sz="2400" b="0">
                <a:solidFill>
                  <a:srgbClr val="F8FBF7"/>
                </a:solidFill>
                <a:latin typeface="Aptos"/>
              </a:rPr>
              <a:t>Green Pace  •  Project Two</a:t>
            </a:r>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82296" tIns="54864" rIns="82296" bIns="36576" anchor="ctr" anchorCtr="0">
            <a:normAutofit/>
          </a:bodyPr>
          <a:lstStyle/>
          <a:p>
            <a:pPr marL="0" lvl="0" indent="0" algn="l" rtl="0">
              <a:lnSpc>
                <a:spcPct val="90000"/>
              </a:lnSpc>
              <a:spcBef>
                <a:spcPts val="0"/>
              </a:spcBef>
              <a:spcAft>
                <a:spcPts val="1000"/>
              </a:spcAft>
              <a:buClr>
                <a:schemeClr val="lt1"/>
              </a:buClr>
              <a:buSzPts val="4000"/>
              <a:buFont typeface="Century Gothic"/>
              <a:buNone/>
            </a:pPr>
            <a:r>
              <a:rPr sz="3000" b="0" dirty="0">
                <a:solidFill>
                  <a:srgbClr val="F8FBF7"/>
                </a:solidFill>
                <a:latin typeface="Aptos"/>
              </a:rPr>
              <a:t>OVERVIEW  |  DEFENSE IN DEPTH</a:t>
            </a:r>
            <a:endParaRPr dirty="0"/>
          </a:p>
        </p:txBody>
      </p:sp>
      <p:sp>
        <p:nvSpPr>
          <p:cNvPr id="152" name="Google Shape;152;p3"/>
          <p:cNvSpPr txBox="1">
            <a:spLocks noGrp="1"/>
          </p:cNvSpPr>
          <p:nvPr>
            <p:ph type="body" idx="1"/>
          </p:nvPr>
        </p:nvSpPr>
        <p:spPr>
          <a:xfrm>
            <a:off x="658368" y="2304288"/>
            <a:ext cx="2834640" cy="3858768"/>
          </a:xfrm>
          <a:prstGeom prst="rect">
            <a:avLst/>
          </a:prstGeom>
          <a:noFill/>
          <a:ln>
            <a:noFill/>
          </a:ln>
        </p:spPr>
        <p:txBody>
          <a:bodyPr spcFirstLastPara="1" wrap="square" lIns="82296" tIns="54864" rIns="82296" bIns="36576" anchor="t" anchorCtr="0">
            <a:normAutofit fontScale="85000" lnSpcReduction="10000"/>
          </a:bodyPr>
          <a:lstStyle/>
          <a:p>
            <a:pPr marL="685800" lvl="0" indent="0" algn="l" rtl="0">
              <a:lnSpc>
                <a:spcPct val="90000"/>
              </a:lnSpc>
              <a:spcBef>
                <a:spcPts val="0"/>
              </a:spcBef>
              <a:spcAft>
                <a:spcPts val="1000"/>
              </a:spcAft>
              <a:buSzPts val="1800"/>
              <a:buNone/>
            </a:pPr>
            <a:r>
              <a:rPr sz="1700" b="0" dirty="0">
                <a:solidFill>
                  <a:srgbClr val="F8FBF7"/>
                </a:solidFill>
                <a:latin typeface="Aptos"/>
              </a:rPr>
              <a:t>WHY IT MATTERS</a:t>
            </a:r>
            <a:endParaRPr sz="1600" dirty="0"/>
          </a:p>
          <a:p>
            <a:pPr algn="l">
              <a:spcAft>
                <a:spcPts val="1000"/>
              </a:spcAft>
            </a:pPr>
            <a:r>
              <a:rPr sz="1700" b="0" dirty="0">
                <a:solidFill>
                  <a:srgbClr val="F8FBF7"/>
                </a:solidFill>
                <a:latin typeface="Aptos"/>
              </a:rPr>
              <a:t>One repeatable policy for Green Pace developers.</a:t>
            </a:r>
          </a:p>
          <a:p>
            <a:pPr algn="l">
              <a:spcAft>
                <a:spcPts val="300"/>
              </a:spcAft>
            </a:pPr>
            <a:endParaRPr sz="1700" b="0" dirty="0">
              <a:solidFill>
                <a:srgbClr val="F8FBF7"/>
              </a:solidFill>
              <a:latin typeface="Aptos"/>
            </a:endParaRPr>
          </a:p>
          <a:p>
            <a:pPr algn="l">
              <a:spcAft>
                <a:spcPts val="1000"/>
              </a:spcAft>
            </a:pPr>
            <a:r>
              <a:rPr sz="1700" b="0" dirty="0">
                <a:solidFill>
                  <a:srgbClr val="F8FBF7"/>
                </a:solidFill>
                <a:latin typeface="Aptos"/>
              </a:rPr>
              <a:t>HOW IT WORKS</a:t>
            </a:r>
          </a:p>
          <a:p>
            <a:pPr algn="l">
              <a:spcAft>
                <a:spcPts val="1000"/>
              </a:spcAft>
            </a:pPr>
            <a:r>
              <a:rPr sz="1700" b="0" dirty="0">
                <a:solidFill>
                  <a:srgbClr val="F8FBF7"/>
                </a:solidFill>
                <a:latin typeface="Aptos"/>
              </a:rPr>
              <a:t>Prevent → detect → respond.</a:t>
            </a:r>
            <a:endParaRPr lang="en-US" sz="1700" b="0" dirty="0">
              <a:solidFill>
                <a:srgbClr val="F8FBF7"/>
              </a:solidFill>
              <a:latin typeface="Aptos"/>
            </a:endParaRPr>
          </a:p>
          <a:p>
            <a:pPr marL="114300" indent="0" algn="l">
              <a:spcAft>
                <a:spcPts val="300"/>
              </a:spcAft>
              <a:buNone/>
            </a:pPr>
            <a:endParaRPr lang="en-US" sz="1700" b="0" dirty="0">
              <a:solidFill>
                <a:srgbClr val="F8FBF7"/>
              </a:solidFill>
              <a:latin typeface="Aptos"/>
            </a:endParaRPr>
          </a:p>
          <a:p>
            <a:pPr algn="l">
              <a:spcAft>
                <a:spcPts val="1000"/>
              </a:spcAft>
            </a:pPr>
            <a:r>
              <a:rPr sz="1700" b="0" dirty="0">
                <a:solidFill>
                  <a:srgbClr val="F8FBF7"/>
                </a:solidFill>
                <a:latin typeface="Aptos"/>
              </a:rPr>
              <a:t>THE LAYERS</a:t>
            </a:r>
          </a:p>
          <a:p>
            <a:pPr algn="l">
              <a:spcAft>
                <a:spcPts val="1000"/>
              </a:spcAft>
            </a:pPr>
            <a:r>
              <a:rPr sz="1700" b="0" dirty="0">
                <a:solidFill>
                  <a:srgbClr val="F8FBF7"/>
                </a:solidFill>
                <a:latin typeface="Aptos"/>
              </a:rPr>
              <a:t>Validation, safe design, testing, encryption, identity controls, and audit trails.</a:t>
            </a:r>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3703320" y="2176272"/>
            <a:ext cx="7315200" cy="4096512"/>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82296" tIns="54864" rIns="82296" bIns="36576" anchor="ctr" anchorCtr="0">
            <a:normAutofit/>
          </a:bodyPr>
          <a:lstStyle/>
          <a:p>
            <a:pPr marL="0" lvl="0" indent="0" algn="l" rtl="0">
              <a:lnSpc>
                <a:spcPct val="90000"/>
              </a:lnSpc>
              <a:spcBef>
                <a:spcPts val="0"/>
              </a:spcBef>
              <a:spcAft>
                <a:spcPts val="1000"/>
              </a:spcAft>
              <a:buClr>
                <a:schemeClr val="lt1"/>
              </a:buClr>
              <a:buSzPts val="4000"/>
              <a:buFont typeface="Century Gothic"/>
              <a:buNone/>
            </a:pPr>
            <a:r>
              <a:rPr sz="3000" b="0">
                <a:solidFill>
                  <a:srgbClr val="F8FBF7"/>
                </a:solidFill>
                <a:latin typeface="Aptos"/>
              </a:rPr>
              <a:t>THREATS MATRIX  |  PROPOSED RISK</a:t>
            </a:r>
            <a:endParaRPr/>
          </a:p>
        </p:txBody>
      </p:sp>
      <p:sp>
        <p:nvSpPr>
          <p:cNvPr id="160" name="Google Shape;160;p4"/>
          <p:cNvSpPr txBox="1">
            <a:spLocks noGrp="1"/>
          </p:cNvSpPr>
          <p:nvPr>
            <p:ph type="body" idx="1"/>
          </p:nvPr>
        </p:nvSpPr>
        <p:spPr>
          <a:xfrm>
            <a:off x="667512" y="2240280"/>
            <a:ext cx="2423160" cy="3840480"/>
          </a:xfrm>
          <a:prstGeom prst="rect">
            <a:avLst/>
          </a:prstGeom>
          <a:noFill/>
          <a:ln>
            <a:noFill/>
          </a:ln>
        </p:spPr>
        <p:txBody>
          <a:bodyPr spcFirstLastPara="1" wrap="square" lIns="82296" tIns="54864" rIns="82296" bIns="36576" anchor="t" anchorCtr="0">
            <a:normAutofit/>
          </a:bodyPr>
          <a:lstStyle/>
          <a:p>
            <a:pPr marL="228600" lvl="0" indent="0" algn="l" rtl="0">
              <a:lnSpc>
                <a:spcPct val="107916"/>
              </a:lnSpc>
              <a:spcBef>
                <a:spcPts val="0"/>
              </a:spcBef>
              <a:spcAft>
                <a:spcPts val="1000"/>
              </a:spcAft>
              <a:buSzPts val="1800"/>
              <a:buNone/>
            </a:pPr>
            <a:r>
              <a:rPr sz="1600" b="0">
                <a:solidFill>
                  <a:srgbClr val="F8FBF7"/>
                </a:solidFill>
                <a:latin typeface="Aptos"/>
              </a:rPr>
              <a:t>ASSESSMENT</a:t>
            </a:r>
            <a:endParaRPr sz="2000"/>
          </a:p>
          <a:p>
            <a:pPr algn="l">
              <a:spcAft>
                <a:spcPts val="1000"/>
              </a:spcAft>
            </a:pPr>
            <a:r>
              <a:rPr sz="1600" b="0">
                <a:solidFill>
                  <a:srgbClr val="F8FBF7"/>
                </a:solidFill>
                <a:latin typeface="Aptos"/>
              </a:rPr>
              <a:t>10 standards</a:t>
            </a:r>
          </a:p>
          <a:p>
            <a:pPr algn="l">
              <a:spcAft>
                <a:spcPts val="300"/>
              </a:spcAft>
            </a:pPr>
            <a:endParaRPr sz="1600" b="0">
              <a:solidFill>
                <a:srgbClr val="F8FBF7"/>
              </a:solidFill>
              <a:latin typeface="Aptos"/>
            </a:endParaRPr>
          </a:p>
          <a:p>
            <a:pPr algn="l">
              <a:spcAft>
                <a:spcPts val="1000"/>
              </a:spcAft>
            </a:pPr>
            <a:r>
              <a:rPr sz="1600" b="0">
                <a:solidFill>
                  <a:srgbClr val="F8FBF7"/>
                </a:solidFill>
                <a:latin typeface="Aptos"/>
              </a:rPr>
              <a:t>Level 5  |  highest</a:t>
            </a:r>
          </a:p>
          <a:p>
            <a:pPr algn="l">
              <a:spcAft>
                <a:spcPts val="1000"/>
              </a:spcAft>
            </a:pPr>
            <a:r>
              <a:rPr sz="1600" b="0">
                <a:solidFill>
                  <a:srgbClr val="F8FBF7"/>
                </a:solidFill>
                <a:latin typeface="Aptos"/>
              </a:rPr>
              <a:t>Level 4  |  high</a:t>
            </a:r>
          </a:p>
          <a:p>
            <a:pPr algn="l">
              <a:spcAft>
                <a:spcPts val="1000"/>
              </a:spcAft>
            </a:pPr>
            <a:r>
              <a:rPr sz="1600" b="0">
                <a:solidFill>
                  <a:srgbClr val="F8FBF7"/>
                </a:solidFill>
                <a:latin typeface="Aptos"/>
              </a:rPr>
              <a:t>Level 3  |  medium</a:t>
            </a:r>
          </a:p>
          <a:p>
            <a:pPr algn="l">
              <a:spcAft>
                <a:spcPts val="300"/>
              </a:spcAft>
            </a:pPr>
            <a:endParaRPr sz="1600" b="0">
              <a:solidFill>
                <a:srgbClr val="F8FBF7"/>
              </a:solidFill>
              <a:latin typeface="Aptos"/>
            </a:endParaRPr>
          </a:p>
          <a:p>
            <a:pPr algn="l">
              <a:spcAft>
                <a:spcPts val="1000"/>
              </a:spcAft>
            </a:pPr>
            <a:r>
              <a:rPr sz="1600" b="0">
                <a:solidFill>
                  <a:srgbClr val="F8FBF7"/>
                </a:solidFill>
                <a:latin typeface="Aptos"/>
              </a:rPr>
              <a:t>Planning judgments, not production incident counts.</a:t>
            </a:r>
          </a:p>
        </p:txBody>
      </p:sp>
      <p:graphicFrame>
        <p:nvGraphicFramePr>
          <p:cNvPr id="161" name="Google Shape;161;p4" descr="Alt text required"/>
          <p:cNvGraphicFramePr/>
          <p:nvPr>
            <p:extLst>
              <p:ext uri="{D42A27DB-BD31-4B8C-83A1-F6EECF244321}">
                <p14:modId xmlns:p14="http://schemas.microsoft.com/office/powerpoint/2010/main" val="4404453"/>
              </p:ext>
            </p:extLst>
          </p:nvPr>
        </p:nvGraphicFramePr>
        <p:xfrm>
          <a:off x="3171900" y="2561050"/>
          <a:ext cx="7835225" cy="3538650"/>
        </p:xfrm>
        <a:graphic>
          <a:graphicData uri="http://schemas.openxmlformats.org/drawingml/2006/table">
            <a:tbl>
              <a:tblPr firstRow="1" firstCol="1">
                <a:noFill/>
                <a:tableStyleId>{802198C4-3087-4945-87E3-76CBB3509B7E}</a:tableStyleId>
              </a:tblPr>
              <a:tblGrid>
                <a:gridCol w="4030425">
                  <a:extLst>
                    <a:ext uri="{9D8B030D-6E8A-4147-A177-3AD203B41FA5}">
                      <a16:colId xmlns:a16="http://schemas.microsoft.com/office/drawing/2014/main" val="20000"/>
                    </a:ext>
                  </a:extLst>
                </a:gridCol>
                <a:gridCol w="3804800">
                  <a:extLst>
                    <a:ext uri="{9D8B030D-6E8A-4147-A177-3AD203B41FA5}">
                      <a16:colId xmlns:a16="http://schemas.microsoft.com/office/drawing/2014/main" val="20001"/>
                    </a:ext>
                  </a:extLst>
                </a:gridCol>
              </a:tblGrid>
              <a:tr h="1769325">
                <a:tc>
                  <a:txBody>
                    <a:bodyPr/>
                    <a:lstStyle/>
                    <a:p>
                      <a:pPr>
                        <a:spcAft>
                          <a:spcPts val="600"/>
                        </a:spcAft>
                      </a:pPr>
                      <a:r>
                        <a:rPr sz="1500" b="1">
                          <a:solidFill>
                            <a:srgbClr val="F8FBF7"/>
                          </a:solidFill>
                          <a:latin typeface="Aptos"/>
                        </a:rPr>
                        <a:t>LIKELY  /  LEVEL 5</a:t>
                      </a:r>
                    </a:p>
                    <a:p>
                      <a:pPr>
                        <a:spcAft>
                          <a:spcPts val="600"/>
                        </a:spcAft>
                      </a:pPr>
                      <a:r>
                        <a:rPr sz="1500" b="0">
                          <a:solidFill>
                            <a:srgbClr val="F8FBF7"/>
                          </a:solidFill>
                          <a:latin typeface="Aptos"/>
                        </a:rPr>
                        <a:t>003  Buffer overflow</a:t>
                      </a:r>
                    </a:p>
                    <a:p>
                      <a:pPr>
                        <a:spcAft>
                          <a:spcPts val="600"/>
                        </a:spcAft>
                      </a:pPr>
                      <a:r>
                        <a:rPr sz="1500" b="0">
                          <a:solidFill>
                            <a:srgbClr val="F8FBF7"/>
                          </a:solidFill>
                          <a:latin typeface="Aptos"/>
                        </a:rPr>
                        <a:t>004  SQL injection</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153827"/>
                    </a:solidFill>
                  </a:tcPr>
                </a:tc>
                <a:tc>
                  <a:txBody>
                    <a:bodyPr/>
                    <a:lstStyle/>
                    <a:p>
                      <a:pPr>
                        <a:spcAft>
                          <a:spcPts val="600"/>
                        </a:spcAft>
                      </a:pPr>
                      <a:r>
                        <a:rPr sz="1300" b="1">
                          <a:solidFill>
                            <a:srgbClr val="F8FBF7"/>
                          </a:solidFill>
                          <a:latin typeface="Aptos"/>
                        </a:rPr>
                        <a:t>PRIORITY  /  LEVEL 4–5</a:t>
                      </a:r>
                    </a:p>
                    <a:p>
                      <a:pPr>
                        <a:spcAft>
                          <a:spcPts val="600"/>
                        </a:spcAft>
                      </a:pPr>
                      <a:r>
                        <a:rPr sz="1300" b="0">
                          <a:solidFill>
                            <a:srgbClr val="F8FBF7"/>
                          </a:solidFill>
                          <a:latin typeface="Aptos"/>
                        </a:rPr>
                        <a:t>005  Use-after-free (5)</a:t>
                      </a:r>
                    </a:p>
                    <a:p>
                      <a:pPr>
                        <a:spcAft>
                          <a:spcPts val="600"/>
                        </a:spcAft>
                      </a:pPr>
                      <a:r>
                        <a:rPr sz="1300" b="0">
                          <a:solidFill>
                            <a:srgbClr val="F8FBF7"/>
                          </a:solidFill>
                          <a:latin typeface="Aptos"/>
                        </a:rPr>
                        <a:t>001  Unsafe conversions (4)</a:t>
                      </a:r>
                    </a:p>
                    <a:p>
                      <a:pPr>
                        <a:spcAft>
                          <a:spcPts val="600"/>
                        </a:spcAft>
                      </a:pPr>
                      <a:r>
                        <a:rPr sz="1300" b="0">
                          <a:solidFill>
                            <a:srgbClr val="F8FBF7"/>
                          </a:solidFill>
                          <a:latin typeface="Aptos"/>
                        </a:rPr>
                        <a:t>002  Uninitialized reads (4)</a:t>
                      </a:r>
                    </a:p>
                    <a:p>
                      <a:pPr>
                        <a:spcAft>
                          <a:spcPts val="600"/>
                        </a:spcAft>
                      </a:pPr>
                      <a:r>
                        <a:rPr sz="1300" b="0">
                          <a:solidFill>
                            <a:srgbClr val="F8FBF7"/>
                          </a:solidFill>
                          <a:latin typeface="Aptos"/>
                        </a:rPr>
                        <a:t>008  Container bounds (4)</a:t>
                      </a:r>
                    </a:p>
                    <a:p>
                      <a:pPr>
                        <a:spcAft>
                          <a:spcPts val="600"/>
                        </a:spcAft>
                      </a:pPr>
                      <a:r>
                        <a:rPr sz="1300" b="0">
                          <a:solidFill>
                            <a:srgbClr val="F8FBF7"/>
                          </a:solidFill>
                          <a:latin typeface="Aptos"/>
                        </a:rPr>
                        <a:t>010  Deadlock (4)</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153827"/>
                    </a:solidFill>
                  </a:tcPr>
                </a:tc>
                <a:extLst>
                  <a:ext uri="{0D108BD9-81ED-4DB2-BD59-A6C34878D82A}">
                    <a16:rowId xmlns:a16="http://schemas.microsoft.com/office/drawing/2014/main" val="10000"/>
                  </a:ext>
                </a:extLst>
              </a:tr>
              <a:tr h="1769325">
                <a:tc>
                  <a:txBody>
                    <a:bodyPr/>
                    <a:lstStyle/>
                    <a:p>
                      <a:pPr>
                        <a:spcAft>
                          <a:spcPts val="600"/>
                        </a:spcAft>
                      </a:pPr>
                      <a:r>
                        <a:rPr sz="1500" b="1">
                          <a:solidFill>
                            <a:srgbClr val="F8FBF7"/>
                          </a:solidFill>
                          <a:latin typeface="Aptos"/>
                        </a:rPr>
                        <a:t>LOWER PRIORITY  /  LEVEL 3</a:t>
                      </a:r>
                    </a:p>
                    <a:p>
                      <a:pPr>
                        <a:spcAft>
                          <a:spcPts val="600"/>
                        </a:spcAft>
                      </a:pPr>
                      <a:r>
                        <a:rPr sz="1500" b="0">
                          <a:solidFill>
                            <a:srgbClr val="F8FBF7"/>
                          </a:solidFill>
                          <a:latin typeface="Aptos"/>
                        </a:rPr>
                        <a:t>006  Misused assertions</a:t>
                      </a:r>
                    </a:p>
                    <a:p>
                      <a:pPr>
                        <a:spcAft>
                          <a:spcPts val="600"/>
                        </a:spcAft>
                      </a:pPr>
                      <a:r>
                        <a:rPr sz="1500" b="0">
                          <a:solidFill>
                            <a:srgbClr val="F8FBF7"/>
                          </a:solidFill>
                          <a:latin typeface="Aptos"/>
                        </a:rPr>
                        <a:t>007  Exception handling</a:t>
                      </a:r>
                    </a:p>
                    <a:p>
                      <a:pPr>
                        <a:spcAft>
                          <a:spcPts val="600"/>
                        </a:spcAft>
                      </a:pPr>
                      <a:r>
                        <a:rPr sz="1500" b="0">
                          <a:solidFill>
                            <a:srgbClr val="F8FBF7"/>
                          </a:solidFill>
                          <a:latin typeface="Aptos"/>
                        </a:rPr>
                        <a:t>009  File lifecycle</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16211C"/>
                    </a:solidFill>
                  </a:tcPr>
                </a:tc>
                <a:tc>
                  <a:txBody>
                    <a:bodyPr/>
                    <a:lstStyle/>
                    <a:p>
                      <a:pPr>
                        <a:spcAft>
                          <a:spcPts val="600"/>
                        </a:spcAft>
                      </a:pPr>
                      <a:r>
                        <a:rPr sz="1500" b="1">
                          <a:solidFill>
                            <a:srgbClr val="F8FBF7"/>
                          </a:solidFill>
                          <a:latin typeface="Aptos"/>
                        </a:rPr>
                        <a:t>UNLIKELY / NOT VERIFIED</a:t>
                      </a:r>
                    </a:p>
                    <a:p>
                      <a:pPr>
                        <a:spcAft>
                          <a:spcPts val="600"/>
                        </a:spcAft>
                      </a:pPr>
                      <a:r>
                        <a:rPr sz="1500" b="0">
                          <a:solidFill>
                            <a:srgbClr val="F8FBF7"/>
                          </a:solidFill>
                          <a:latin typeface="Aptos"/>
                        </a:rPr>
                        <a:t>No risk assumed impossible.</a:t>
                      </a:r>
                    </a:p>
                    <a:p>
                      <a:pPr>
                        <a:spcAft>
                          <a:spcPts val="600"/>
                        </a:spcAft>
                      </a:pPr>
                      <a:r>
                        <a:rPr sz="1500" b="0">
                          <a:solidFill>
                            <a:srgbClr val="F8FBF7"/>
                          </a:solidFill>
                          <a:latin typeface="Aptos"/>
                        </a:rPr>
                        <a:t>Reassess after scans,</a:t>
                      </a:r>
                    </a:p>
                    <a:p>
                      <a:pPr>
                        <a:spcAft>
                          <a:spcPts val="600"/>
                        </a:spcAft>
                      </a:pPr>
                      <a:r>
                        <a:rPr sz="1500" b="0">
                          <a:solidFill>
                            <a:srgbClr val="F8FBF7"/>
                          </a:solidFill>
                          <a:latin typeface="Aptos"/>
                        </a:rPr>
                        <a:t>unit tests, and exposure review.</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16211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82296" tIns="54864" rIns="82296" bIns="36576" anchor="ctr" anchorCtr="0">
            <a:normAutofit/>
          </a:bodyPr>
          <a:lstStyle/>
          <a:p>
            <a:pPr marL="0" lvl="0" indent="0" algn="l" rtl="0">
              <a:lnSpc>
                <a:spcPct val="90000"/>
              </a:lnSpc>
              <a:spcBef>
                <a:spcPts val="0"/>
              </a:spcBef>
              <a:spcAft>
                <a:spcPts val="1000"/>
              </a:spcAft>
              <a:buClr>
                <a:schemeClr val="lt1"/>
              </a:buClr>
              <a:buSzPts val="4000"/>
              <a:buFont typeface="Century Gothic"/>
              <a:buNone/>
            </a:pPr>
            <a:r>
              <a:rPr sz="3000" b="0">
                <a:solidFill>
                  <a:srgbClr val="F8FBF7"/>
                </a:solidFill>
                <a:latin typeface="Aptos"/>
              </a:rPr>
              <a:t>10 PRINCIPLES  |  POLICY ALIGNMENT</a:t>
            </a:r>
            <a:endParaRPr/>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170" name="Rounded Rectangle 169"/>
          <p:cNvSpPr/>
          <p:nvPr/>
        </p:nvSpPr>
        <p:spPr>
          <a:xfrm>
            <a:off x="694944" y="2057400"/>
            <a:ext cx="5074920" cy="621792"/>
          </a:xfrm>
          <a:prstGeom prst="roundRect">
            <a:avLst/>
          </a:prstGeom>
          <a:solidFill>
            <a:srgbClr val="0F1F19"/>
          </a:solidFill>
          <a:ln w="12700">
            <a:solidFill>
              <a:srgbClr val="26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TextBox 170"/>
          <p:cNvSpPr txBox="1"/>
          <p:nvPr/>
        </p:nvSpPr>
        <p:spPr>
          <a:xfrm>
            <a:off x="822960" y="2121408"/>
            <a:ext cx="3310128" cy="256032"/>
          </a:xfrm>
          <a:prstGeom prst="rect">
            <a:avLst/>
          </a:prstGeom>
          <a:noFill/>
        </p:spPr>
        <p:txBody>
          <a:bodyPr wrap="square" lIns="82296" tIns="54864" rIns="82296" bIns="36576">
            <a:spAutoFit/>
          </a:bodyPr>
          <a:lstStyle/>
          <a:p>
            <a:pPr algn="l">
              <a:spcAft>
                <a:spcPts val="1000"/>
              </a:spcAft>
            </a:pPr>
            <a:r>
              <a:rPr sz="1520" b="1">
                <a:solidFill>
                  <a:srgbClr val="F8FBF7"/>
                </a:solidFill>
                <a:latin typeface="Aptos"/>
              </a:rPr>
              <a:t>01  Validate input</a:t>
            </a:r>
          </a:p>
        </p:txBody>
      </p:sp>
      <p:sp>
        <p:nvSpPr>
          <p:cNvPr id="172" name="TextBox 171"/>
          <p:cNvSpPr txBox="1"/>
          <p:nvPr/>
        </p:nvSpPr>
        <p:spPr>
          <a:xfrm>
            <a:off x="4059936" y="2167128"/>
            <a:ext cx="1609344" cy="292608"/>
          </a:xfrm>
          <a:prstGeom prst="rect">
            <a:avLst/>
          </a:prstGeom>
          <a:noFill/>
        </p:spPr>
        <p:txBody>
          <a:bodyPr wrap="square" lIns="82296" tIns="54864" rIns="82296" bIns="36576">
            <a:spAutoFit/>
          </a:bodyPr>
          <a:lstStyle/>
          <a:p>
            <a:pPr algn="l">
              <a:spcAft>
                <a:spcPts val="1000"/>
              </a:spcAft>
            </a:pPr>
            <a:r>
              <a:rPr sz="1050" b="0">
                <a:solidFill>
                  <a:srgbClr val="98E3AF"/>
                </a:solidFill>
                <a:latin typeface="Aptos"/>
              </a:rPr>
              <a:t>STD 001, 003, 004, 008</a:t>
            </a:r>
          </a:p>
        </p:txBody>
      </p:sp>
      <p:sp>
        <p:nvSpPr>
          <p:cNvPr id="173" name="Rounded Rectangle 172"/>
          <p:cNvSpPr/>
          <p:nvPr/>
        </p:nvSpPr>
        <p:spPr>
          <a:xfrm>
            <a:off x="694944" y="2816352"/>
            <a:ext cx="5074920" cy="621792"/>
          </a:xfrm>
          <a:prstGeom prst="roundRect">
            <a:avLst/>
          </a:prstGeom>
          <a:solidFill>
            <a:srgbClr val="0F1F19"/>
          </a:solidFill>
          <a:ln w="12700">
            <a:solidFill>
              <a:srgbClr val="26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TextBox 173"/>
          <p:cNvSpPr txBox="1"/>
          <p:nvPr/>
        </p:nvSpPr>
        <p:spPr>
          <a:xfrm>
            <a:off x="822960" y="2880360"/>
            <a:ext cx="3310128" cy="256032"/>
          </a:xfrm>
          <a:prstGeom prst="rect">
            <a:avLst/>
          </a:prstGeom>
          <a:noFill/>
        </p:spPr>
        <p:txBody>
          <a:bodyPr wrap="square" lIns="82296" tIns="54864" rIns="82296" bIns="36576">
            <a:spAutoFit/>
          </a:bodyPr>
          <a:lstStyle/>
          <a:p>
            <a:pPr algn="l">
              <a:spcAft>
                <a:spcPts val="1000"/>
              </a:spcAft>
            </a:pPr>
            <a:r>
              <a:rPr sz="1520" b="1">
                <a:solidFill>
                  <a:srgbClr val="F8FBF7"/>
                </a:solidFill>
                <a:latin typeface="Aptos"/>
              </a:rPr>
              <a:t>02  Heed compiler warnings</a:t>
            </a:r>
          </a:p>
        </p:txBody>
      </p:sp>
      <p:sp>
        <p:nvSpPr>
          <p:cNvPr id="175" name="TextBox 174"/>
          <p:cNvSpPr txBox="1"/>
          <p:nvPr/>
        </p:nvSpPr>
        <p:spPr>
          <a:xfrm>
            <a:off x="4059936" y="2926080"/>
            <a:ext cx="1609344" cy="292608"/>
          </a:xfrm>
          <a:prstGeom prst="rect">
            <a:avLst/>
          </a:prstGeom>
          <a:noFill/>
        </p:spPr>
        <p:txBody>
          <a:bodyPr wrap="square" lIns="82296" tIns="54864" rIns="82296" bIns="36576">
            <a:spAutoFit/>
          </a:bodyPr>
          <a:lstStyle/>
          <a:p>
            <a:pPr algn="l">
              <a:spcAft>
                <a:spcPts val="1000"/>
              </a:spcAft>
            </a:pPr>
            <a:r>
              <a:rPr sz="1050" b="0">
                <a:solidFill>
                  <a:srgbClr val="98E3AF"/>
                </a:solidFill>
                <a:latin typeface="Aptos"/>
              </a:rPr>
              <a:t>STD 001, 002, 006</a:t>
            </a:r>
          </a:p>
        </p:txBody>
      </p:sp>
      <p:sp>
        <p:nvSpPr>
          <p:cNvPr id="176" name="Rounded Rectangle 175"/>
          <p:cNvSpPr/>
          <p:nvPr/>
        </p:nvSpPr>
        <p:spPr>
          <a:xfrm>
            <a:off x="694944" y="3575304"/>
            <a:ext cx="5074920" cy="621792"/>
          </a:xfrm>
          <a:prstGeom prst="roundRect">
            <a:avLst/>
          </a:prstGeom>
          <a:solidFill>
            <a:srgbClr val="0F1F19"/>
          </a:solidFill>
          <a:ln w="12700">
            <a:solidFill>
              <a:srgbClr val="26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TextBox 176"/>
          <p:cNvSpPr txBox="1"/>
          <p:nvPr/>
        </p:nvSpPr>
        <p:spPr>
          <a:xfrm>
            <a:off x="822960" y="3639312"/>
            <a:ext cx="3310128" cy="256032"/>
          </a:xfrm>
          <a:prstGeom prst="rect">
            <a:avLst/>
          </a:prstGeom>
          <a:noFill/>
        </p:spPr>
        <p:txBody>
          <a:bodyPr wrap="square" lIns="82296" tIns="54864" rIns="82296" bIns="36576">
            <a:spAutoFit/>
          </a:bodyPr>
          <a:lstStyle/>
          <a:p>
            <a:pPr algn="l">
              <a:spcAft>
                <a:spcPts val="1000"/>
              </a:spcAft>
            </a:pPr>
            <a:r>
              <a:rPr sz="1520" b="1">
                <a:solidFill>
                  <a:srgbClr val="F8FBF7"/>
                </a:solidFill>
                <a:latin typeface="Aptos"/>
              </a:rPr>
              <a:t>03  Design for security</a:t>
            </a:r>
          </a:p>
        </p:txBody>
      </p:sp>
      <p:sp>
        <p:nvSpPr>
          <p:cNvPr id="178" name="TextBox 177"/>
          <p:cNvSpPr txBox="1"/>
          <p:nvPr/>
        </p:nvSpPr>
        <p:spPr>
          <a:xfrm>
            <a:off x="4059936" y="3685032"/>
            <a:ext cx="1609344" cy="292608"/>
          </a:xfrm>
          <a:prstGeom prst="rect">
            <a:avLst/>
          </a:prstGeom>
          <a:noFill/>
        </p:spPr>
        <p:txBody>
          <a:bodyPr wrap="square" lIns="82296" tIns="54864" rIns="82296" bIns="36576">
            <a:spAutoFit/>
          </a:bodyPr>
          <a:lstStyle/>
          <a:p>
            <a:pPr algn="l">
              <a:spcAft>
                <a:spcPts val="1000"/>
              </a:spcAft>
            </a:pPr>
            <a:r>
              <a:rPr sz="1050" b="0">
                <a:solidFill>
                  <a:srgbClr val="98E3AF"/>
                </a:solidFill>
                <a:latin typeface="Aptos"/>
              </a:rPr>
              <a:t>STD 005, 007, 010</a:t>
            </a:r>
          </a:p>
        </p:txBody>
      </p:sp>
      <p:sp>
        <p:nvSpPr>
          <p:cNvPr id="179" name="Rounded Rectangle 178"/>
          <p:cNvSpPr/>
          <p:nvPr/>
        </p:nvSpPr>
        <p:spPr>
          <a:xfrm>
            <a:off x="694944" y="4334256"/>
            <a:ext cx="5074920" cy="621792"/>
          </a:xfrm>
          <a:prstGeom prst="roundRect">
            <a:avLst/>
          </a:prstGeom>
          <a:solidFill>
            <a:srgbClr val="0F1F19"/>
          </a:solidFill>
          <a:ln w="12700">
            <a:solidFill>
              <a:srgbClr val="26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TextBox 179"/>
          <p:cNvSpPr txBox="1"/>
          <p:nvPr/>
        </p:nvSpPr>
        <p:spPr>
          <a:xfrm>
            <a:off x="822960" y="4398264"/>
            <a:ext cx="3310128" cy="256032"/>
          </a:xfrm>
          <a:prstGeom prst="rect">
            <a:avLst/>
          </a:prstGeom>
          <a:noFill/>
        </p:spPr>
        <p:txBody>
          <a:bodyPr wrap="square" lIns="82296" tIns="54864" rIns="82296" bIns="36576">
            <a:spAutoFit/>
          </a:bodyPr>
          <a:lstStyle/>
          <a:p>
            <a:pPr algn="l">
              <a:spcAft>
                <a:spcPts val="1000"/>
              </a:spcAft>
            </a:pPr>
            <a:r>
              <a:rPr sz="1520" b="1">
                <a:solidFill>
                  <a:srgbClr val="F8FBF7"/>
                </a:solidFill>
                <a:latin typeface="Aptos"/>
              </a:rPr>
              <a:t>04  Keep it simple</a:t>
            </a:r>
          </a:p>
        </p:txBody>
      </p:sp>
      <p:sp>
        <p:nvSpPr>
          <p:cNvPr id="181" name="TextBox 180"/>
          <p:cNvSpPr txBox="1"/>
          <p:nvPr/>
        </p:nvSpPr>
        <p:spPr>
          <a:xfrm>
            <a:off x="4059936" y="4443984"/>
            <a:ext cx="1609344" cy="292608"/>
          </a:xfrm>
          <a:prstGeom prst="rect">
            <a:avLst/>
          </a:prstGeom>
          <a:noFill/>
        </p:spPr>
        <p:txBody>
          <a:bodyPr wrap="square" lIns="82296" tIns="54864" rIns="82296" bIns="36576">
            <a:spAutoFit/>
          </a:bodyPr>
          <a:lstStyle/>
          <a:p>
            <a:pPr algn="l">
              <a:spcAft>
                <a:spcPts val="1000"/>
              </a:spcAft>
            </a:pPr>
            <a:r>
              <a:rPr sz="1050" b="0">
                <a:solidFill>
                  <a:srgbClr val="98E3AF"/>
                </a:solidFill>
                <a:latin typeface="Aptos"/>
              </a:rPr>
              <a:t>STD 003, 009</a:t>
            </a:r>
          </a:p>
        </p:txBody>
      </p:sp>
      <p:sp>
        <p:nvSpPr>
          <p:cNvPr id="182" name="Rounded Rectangle 181"/>
          <p:cNvSpPr/>
          <p:nvPr/>
        </p:nvSpPr>
        <p:spPr>
          <a:xfrm>
            <a:off x="694944" y="5093208"/>
            <a:ext cx="5074920" cy="621792"/>
          </a:xfrm>
          <a:prstGeom prst="roundRect">
            <a:avLst/>
          </a:prstGeom>
          <a:solidFill>
            <a:srgbClr val="0F1F19"/>
          </a:solidFill>
          <a:ln w="12700">
            <a:solidFill>
              <a:srgbClr val="26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TextBox 182"/>
          <p:cNvSpPr txBox="1"/>
          <p:nvPr/>
        </p:nvSpPr>
        <p:spPr>
          <a:xfrm>
            <a:off x="822960" y="5157216"/>
            <a:ext cx="3310128" cy="256032"/>
          </a:xfrm>
          <a:prstGeom prst="rect">
            <a:avLst/>
          </a:prstGeom>
          <a:noFill/>
        </p:spPr>
        <p:txBody>
          <a:bodyPr wrap="square" lIns="82296" tIns="54864" rIns="82296" bIns="36576">
            <a:spAutoFit/>
          </a:bodyPr>
          <a:lstStyle/>
          <a:p>
            <a:pPr algn="l">
              <a:spcAft>
                <a:spcPts val="1000"/>
              </a:spcAft>
            </a:pPr>
            <a:r>
              <a:rPr sz="1520" b="1">
                <a:solidFill>
                  <a:srgbClr val="F8FBF7"/>
                </a:solidFill>
                <a:latin typeface="Aptos"/>
              </a:rPr>
              <a:t>05  Default deny</a:t>
            </a:r>
          </a:p>
        </p:txBody>
      </p:sp>
      <p:sp>
        <p:nvSpPr>
          <p:cNvPr id="184" name="TextBox 183"/>
          <p:cNvSpPr txBox="1"/>
          <p:nvPr/>
        </p:nvSpPr>
        <p:spPr>
          <a:xfrm>
            <a:off x="4059936" y="5202936"/>
            <a:ext cx="1609344" cy="292608"/>
          </a:xfrm>
          <a:prstGeom prst="rect">
            <a:avLst/>
          </a:prstGeom>
          <a:noFill/>
        </p:spPr>
        <p:txBody>
          <a:bodyPr wrap="square" lIns="82296" tIns="54864" rIns="82296" bIns="36576">
            <a:spAutoFit/>
          </a:bodyPr>
          <a:lstStyle/>
          <a:p>
            <a:pPr algn="l">
              <a:spcAft>
                <a:spcPts val="1000"/>
              </a:spcAft>
            </a:pPr>
            <a:r>
              <a:rPr sz="1050" b="0">
                <a:solidFill>
                  <a:srgbClr val="98E3AF"/>
                </a:solidFill>
                <a:latin typeface="Aptos"/>
              </a:rPr>
              <a:t>STD 004</a:t>
            </a:r>
          </a:p>
        </p:txBody>
      </p:sp>
      <p:sp>
        <p:nvSpPr>
          <p:cNvPr id="185" name="Rounded Rectangle 184"/>
          <p:cNvSpPr/>
          <p:nvPr/>
        </p:nvSpPr>
        <p:spPr>
          <a:xfrm>
            <a:off x="6025896" y="2057400"/>
            <a:ext cx="5074920" cy="621792"/>
          </a:xfrm>
          <a:prstGeom prst="roundRect">
            <a:avLst/>
          </a:prstGeom>
          <a:solidFill>
            <a:srgbClr val="0F1F19"/>
          </a:solidFill>
          <a:ln w="12700">
            <a:solidFill>
              <a:srgbClr val="26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TextBox 185"/>
          <p:cNvSpPr txBox="1"/>
          <p:nvPr/>
        </p:nvSpPr>
        <p:spPr>
          <a:xfrm>
            <a:off x="6153912" y="2121408"/>
            <a:ext cx="3310128" cy="256032"/>
          </a:xfrm>
          <a:prstGeom prst="rect">
            <a:avLst/>
          </a:prstGeom>
          <a:noFill/>
        </p:spPr>
        <p:txBody>
          <a:bodyPr wrap="square" lIns="82296" tIns="54864" rIns="82296" bIns="36576">
            <a:spAutoFit/>
          </a:bodyPr>
          <a:lstStyle/>
          <a:p>
            <a:pPr algn="l">
              <a:spcAft>
                <a:spcPts val="1000"/>
              </a:spcAft>
            </a:pPr>
            <a:r>
              <a:rPr sz="1520" b="1">
                <a:solidFill>
                  <a:srgbClr val="F8FBF7"/>
                </a:solidFill>
                <a:latin typeface="Aptos"/>
              </a:rPr>
              <a:t>06  Least privilege</a:t>
            </a:r>
          </a:p>
        </p:txBody>
      </p:sp>
      <p:sp>
        <p:nvSpPr>
          <p:cNvPr id="187" name="TextBox 186"/>
          <p:cNvSpPr txBox="1"/>
          <p:nvPr/>
        </p:nvSpPr>
        <p:spPr>
          <a:xfrm>
            <a:off x="9390888" y="2167128"/>
            <a:ext cx="1609344" cy="292608"/>
          </a:xfrm>
          <a:prstGeom prst="rect">
            <a:avLst/>
          </a:prstGeom>
          <a:noFill/>
        </p:spPr>
        <p:txBody>
          <a:bodyPr wrap="square" lIns="82296" tIns="54864" rIns="82296" bIns="36576">
            <a:spAutoFit/>
          </a:bodyPr>
          <a:lstStyle/>
          <a:p>
            <a:pPr algn="l">
              <a:spcAft>
                <a:spcPts val="1000"/>
              </a:spcAft>
            </a:pPr>
            <a:r>
              <a:rPr sz="1050" b="0">
                <a:solidFill>
                  <a:srgbClr val="98E3AF"/>
                </a:solidFill>
                <a:latin typeface="Aptos"/>
              </a:rPr>
              <a:t>STD 004</a:t>
            </a:r>
          </a:p>
        </p:txBody>
      </p:sp>
      <p:sp>
        <p:nvSpPr>
          <p:cNvPr id="188" name="Rounded Rectangle 187"/>
          <p:cNvSpPr/>
          <p:nvPr/>
        </p:nvSpPr>
        <p:spPr>
          <a:xfrm>
            <a:off x="6025896" y="2816352"/>
            <a:ext cx="5074920" cy="621792"/>
          </a:xfrm>
          <a:prstGeom prst="roundRect">
            <a:avLst/>
          </a:prstGeom>
          <a:solidFill>
            <a:srgbClr val="0F1F19"/>
          </a:solidFill>
          <a:ln w="12700">
            <a:solidFill>
              <a:srgbClr val="26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TextBox 188"/>
          <p:cNvSpPr txBox="1"/>
          <p:nvPr/>
        </p:nvSpPr>
        <p:spPr>
          <a:xfrm>
            <a:off x="6153912" y="2880360"/>
            <a:ext cx="3310128" cy="256032"/>
          </a:xfrm>
          <a:prstGeom prst="rect">
            <a:avLst/>
          </a:prstGeom>
          <a:noFill/>
        </p:spPr>
        <p:txBody>
          <a:bodyPr wrap="square" lIns="82296" tIns="54864" rIns="82296" bIns="36576">
            <a:spAutoFit/>
          </a:bodyPr>
          <a:lstStyle/>
          <a:p>
            <a:pPr algn="l">
              <a:spcAft>
                <a:spcPts val="1000"/>
              </a:spcAft>
            </a:pPr>
            <a:r>
              <a:rPr sz="1520" b="1">
                <a:solidFill>
                  <a:srgbClr val="F8FBF7"/>
                </a:solidFill>
                <a:latin typeface="Aptos"/>
              </a:rPr>
              <a:t>07  Sanitize outgoing data</a:t>
            </a:r>
          </a:p>
        </p:txBody>
      </p:sp>
      <p:sp>
        <p:nvSpPr>
          <p:cNvPr id="190" name="TextBox 189"/>
          <p:cNvSpPr txBox="1"/>
          <p:nvPr/>
        </p:nvSpPr>
        <p:spPr>
          <a:xfrm>
            <a:off x="9390888" y="2926080"/>
            <a:ext cx="1609344" cy="292608"/>
          </a:xfrm>
          <a:prstGeom prst="rect">
            <a:avLst/>
          </a:prstGeom>
          <a:noFill/>
        </p:spPr>
        <p:txBody>
          <a:bodyPr wrap="square" lIns="82296" tIns="54864" rIns="82296" bIns="36576">
            <a:spAutoFit/>
          </a:bodyPr>
          <a:lstStyle/>
          <a:p>
            <a:pPr algn="l">
              <a:spcAft>
                <a:spcPts val="1000"/>
              </a:spcAft>
            </a:pPr>
            <a:r>
              <a:rPr sz="1050" b="0">
                <a:solidFill>
                  <a:srgbClr val="98E3AF"/>
                </a:solidFill>
                <a:latin typeface="Aptos"/>
              </a:rPr>
              <a:t>STD 004</a:t>
            </a:r>
          </a:p>
        </p:txBody>
      </p:sp>
      <p:sp>
        <p:nvSpPr>
          <p:cNvPr id="191" name="Rounded Rectangle 190"/>
          <p:cNvSpPr/>
          <p:nvPr/>
        </p:nvSpPr>
        <p:spPr>
          <a:xfrm>
            <a:off x="6025896" y="3575304"/>
            <a:ext cx="5074920" cy="621792"/>
          </a:xfrm>
          <a:prstGeom prst="roundRect">
            <a:avLst/>
          </a:prstGeom>
          <a:solidFill>
            <a:srgbClr val="0F1F19"/>
          </a:solidFill>
          <a:ln w="12700">
            <a:solidFill>
              <a:srgbClr val="26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TextBox 191"/>
          <p:cNvSpPr txBox="1"/>
          <p:nvPr/>
        </p:nvSpPr>
        <p:spPr>
          <a:xfrm>
            <a:off x="6153912" y="3639312"/>
            <a:ext cx="3310128" cy="256032"/>
          </a:xfrm>
          <a:prstGeom prst="rect">
            <a:avLst/>
          </a:prstGeom>
          <a:noFill/>
        </p:spPr>
        <p:txBody>
          <a:bodyPr wrap="square" lIns="82296" tIns="54864" rIns="82296" bIns="36576">
            <a:spAutoFit/>
          </a:bodyPr>
          <a:lstStyle/>
          <a:p>
            <a:pPr algn="l">
              <a:spcAft>
                <a:spcPts val="1000"/>
              </a:spcAft>
            </a:pPr>
            <a:r>
              <a:rPr sz="1520" b="1">
                <a:solidFill>
                  <a:srgbClr val="F8FBF7"/>
                </a:solidFill>
                <a:latin typeface="Aptos"/>
              </a:rPr>
              <a:t>08  Defense in depth</a:t>
            </a:r>
          </a:p>
        </p:txBody>
      </p:sp>
      <p:sp>
        <p:nvSpPr>
          <p:cNvPr id="193" name="TextBox 192"/>
          <p:cNvSpPr txBox="1"/>
          <p:nvPr/>
        </p:nvSpPr>
        <p:spPr>
          <a:xfrm>
            <a:off x="9390888" y="3685032"/>
            <a:ext cx="1609344" cy="292608"/>
          </a:xfrm>
          <a:prstGeom prst="rect">
            <a:avLst/>
          </a:prstGeom>
          <a:noFill/>
        </p:spPr>
        <p:txBody>
          <a:bodyPr wrap="square" lIns="82296" tIns="54864" rIns="82296" bIns="36576">
            <a:spAutoFit/>
          </a:bodyPr>
          <a:lstStyle/>
          <a:p>
            <a:pPr algn="l">
              <a:spcAft>
                <a:spcPts val="1000"/>
              </a:spcAft>
            </a:pPr>
            <a:r>
              <a:rPr sz="1050" b="0">
                <a:solidFill>
                  <a:srgbClr val="98E3AF"/>
                </a:solidFill>
                <a:latin typeface="Aptos"/>
              </a:rPr>
              <a:t>STD 005, 007, 009, 010</a:t>
            </a:r>
          </a:p>
        </p:txBody>
      </p:sp>
      <p:sp>
        <p:nvSpPr>
          <p:cNvPr id="194" name="Rounded Rectangle 193"/>
          <p:cNvSpPr/>
          <p:nvPr/>
        </p:nvSpPr>
        <p:spPr>
          <a:xfrm>
            <a:off x="6025896" y="4334256"/>
            <a:ext cx="5074920" cy="621792"/>
          </a:xfrm>
          <a:prstGeom prst="roundRect">
            <a:avLst/>
          </a:prstGeom>
          <a:solidFill>
            <a:srgbClr val="0F1F19"/>
          </a:solidFill>
          <a:ln w="12700">
            <a:solidFill>
              <a:srgbClr val="26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TextBox 194"/>
          <p:cNvSpPr txBox="1"/>
          <p:nvPr/>
        </p:nvSpPr>
        <p:spPr>
          <a:xfrm>
            <a:off x="6153912" y="4398264"/>
            <a:ext cx="3310128" cy="256032"/>
          </a:xfrm>
          <a:prstGeom prst="rect">
            <a:avLst/>
          </a:prstGeom>
          <a:noFill/>
        </p:spPr>
        <p:txBody>
          <a:bodyPr wrap="square" lIns="82296" tIns="54864" rIns="82296" bIns="36576">
            <a:spAutoFit/>
          </a:bodyPr>
          <a:lstStyle/>
          <a:p>
            <a:pPr algn="l">
              <a:spcAft>
                <a:spcPts val="1000"/>
              </a:spcAft>
            </a:pPr>
            <a:r>
              <a:rPr sz="1520" b="1">
                <a:solidFill>
                  <a:srgbClr val="F8FBF7"/>
                </a:solidFill>
                <a:latin typeface="Aptos"/>
              </a:rPr>
              <a:t>09  Quality assurance</a:t>
            </a:r>
          </a:p>
        </p:txBody>
      </p:sp>
      <p:sp>
        <p:nvSpPr>
          <p:cNvPr id="196" name="TextBox 195"/>
          <p:cNvSpPr txBox="1"/>
          <p:nvPr/>
        </p:nvSpPr>
        <p:spPr>
          <a:xfrm>
            <a:off x="9390888" y="4443984"/>
            <a:ext cx="1609344" cy="292608"/>
          </a:xfrm>
          <a:prstGeom prst="rect">
            <a:avLst/>
          </a:prstGeom>
          <a:noFill/>
        </p:spPr>
        <p:txBody>
          <a:bodyPr wrap="square" lIns="82296" tIns="54864" rIns="82296" bIns="36576">
            <a:spAutoFit/>
          </a:bodyPr>
          <a:lstStyle/>
          <a:p>
            <a:pPr algn="l">
              <a:spcAft>
                <a:spcPts val="1000"/>
              </a:spcAft>
            </a:pPr>
            <a:r>
              <a:rPr sz="1050" b="0">
                <a:solidFill>
                  <a:srgbClr val="98E3AF"/>
                </a:solidFill>
                <a:latin typeface="Aptos"/>
              </a:rPr>
              <a:t>STD 002, 003, 005–010</a:t>
            </a:r>
          </a:p>
        </p:txBody>
      </p:sp>
      <p:sp>
        <p:nvSpPr>
          <p:cNvPr id="197" name="Rounded Rectangle 196"/>
          <p:cNvSpPr/>
          <p:nvPr/>
        </p:nvSpPr>
        <p:spPr>
          <a:xfrm>
            <a:off x="6025896" y="5093208"/>
            <a:ext cx="5074920" cy="621792"/>
          </a:xfrm>
          <a:prstGeom prst="roundRect">
            <a:avLst/>
          </a:prstGeom>
          <a:solidFill>
            <a:srgbClr val="0F1F19"/>
          </a:solidFill>
          <a:ln w="12700">
            <a:solidFill>
              <a:srgbClr val="26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TextBox 197"/>
          <p:cNvSpPr txBox="1"/>
          <p:nvPr/>
        </p:nvSpPr>
        <p:spPr>
          <a:xfrm>
            <a:off x="6153912" y="5157216"/>
            <a:ext cx="3310128" cy="256032"/>
          </a:xfrm>
          <a:prstGeom prst="rect">
            <a:avLst/>
          </a:prstGeom>
          <a:noFill/>
        </p:spPr>
        <p:txBody>
          <a:bodyPr wrap="square" lIns="82296" tIns="54864" rIns="82296" bIns="36576">
            <a:spAutoFit/>
          </a:bodyPr>
          <a:lstStyle/>
          <a:p>
            <a:pPr algn="l">
              <a:spcAft>
                <a:spcPts val="1000"/>
              </a:spcAft>
            </a:pPr>
            <a:r>
              <a:rPr sz="1520" b="1">
                <a:solidFill>
                  <a:srgbClr val="F8FBF7"/>
                </a:solidFill>
                <a:latin typeface="Aptos"/>
              </a:rPr>
              <a:t>10  Secure coding standards</a:t>
            </a:r>
          </a:p>
        </p:txBody>
      </p:sp>
      <p:sp>
        <p:nvSpPr>
          <p:cNvPr id="199" name="TextBox 198"/>
          <p:cNvSpPr txBox="1"/>
          <p:nvPr/>
        </p:nvSpPr>
        <p:spPr>
          <a:xfrm>
            <a:off x="9390888" y="5202936"/>
            <a:ext cx="1609344" cy="292608"/>
          </a:xfrm>
          <a:prstGeom prst="rect">
            <a:avLst/>
          </a:prstGeom>
          <a:noFill/>
        </p:spPr>
        <p:txBody>
          <a:bodyPr wrap="square" lIns="82296" tIns="54864" rIns="82296" bIns="36576">
            <a:spAutoFit/>
          </a:bodyPr>
          <a:lstStyle/>
          <a:p>
            <a:pPr algn="l">
              <a:spcAft>
                <a:spcPts val="1000"/>
              </a:spcAft>
            </a:pPr>
            <a:r>
              <a:rPr sz="1050" b="0">
                <a:solidFill>
                  <a:srgbClr val="98E3AF"/>
                </a:solidFill>
                <a:latin typeface="Aptos"/>
              </a:rPr>
              <a:t>STD 001, 002, 006, 008</a:t>
            </a:r>
          </a:p>
        </p:txBody>
      </p:sp>
      <p:sp>
        <p:nvSpPr>
          <p:cNvPr id="200" name="TextBox 199"/>
          <p:cNvSpPr txBox="1"/>
          <p:nvPr/>
        </p:nvSpPr>
        <p:spPr>
          <a:xfrm>
            <a:off x="749808" y="6172200"/>
            <a:ext cx="10607040" cy="237744"/>
          </a:xfrm>
          <a:prstGeom prst="rect">
            <a:avLst/>
          </a:prstGeom>
          <a:noFill/>
        </p:spPr>
        <p:txBody>
          <a:bodyPr wrap="square" lIns="82296" tIns="54864" rIns="82296" bIns="36576">
            <a:spAutoFit/>
          </a:bodyPr>
          <a:lstStyle/>
          <a:p>
            <a:pPr algn="l">
              <a:spcAft>
                <a:spcPts val="1000"/>
              </a:spcAft>
            </a:pPr>
            <a:r>
              <a:rPr sz="1100" b="1">
                <a:solidFill>
                  <a:srgbClr val="D1D7D6"/>
                </a:solidFill>
                <a:latin typeface="Aptos"/>
              </a:rPr>
              <a:t>STANDARDS ARE CROSS-REFERENCED TO PROJECT ONE</a:t>
            </a: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82296" tIns="54864" rIns="82296" bIns="36576" anchor="ctr" anchorCtr="0">
            <a:normAutofit/>
          </a:bodyPr>
          <a:lstStyle/>
          <a:p>
            <a:pPr marL="0" lvl="0" indent="0" algn="l" rtl="0">
              <a:lnSpc>
                <a:spcPct val="90000"/>
              </a:lnSpc>
              <a:spcBef>
                <a:spcPts val="0"/>
              </a:spcBef>
              <a:spcAft>
                <a:spcPts val="1000"/>
              </a:spcAft>
              <a:buClr>
                <a:schemeClr val="lt1"/>
              </a:buClr>
              <a:buSzPts val="4000"/>
              <a:buFont typeface="Century Gothic"/>
              <a:buNone/>
            </a:pPr>
            <a:r>
              <a:rPr sz="3000" b="0" dirty="0">
                <a:solidFill>
                  <a:srgbClr val="F8FBF7"/>
                </a:solidFill>
                <a:latin typeface="Aptos"/>
              </a:rPr>
              <a:t>CODING STANDARDS  |  TRIAGE ORDER</a:t>
            </a:r>
            <a:endParaRPr dirty="0"/>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177" name="Rounded Rectangle 176"/>
          <p:cNvSpPr/>
          <p:nvPr/>
        </p:nvSpPr>
        <p:spPr>
          <a:xfrm>
            <a:off x="667512" y="2176272"/>
            <a:ext cx="3529584" cy="3621024"/>
          </a:xfrm>
          <a:prstGeom prst="roundRect">
            <a:avLst/>
          </a:prstGeom>
          <a:solidFill>
            <a:srgbClr val="0F1F19"/>
          </a:solidFill>
          <a:ln w="12700">
            <a:solidFill>
              <a:srgbClr val="26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TextBox 177"/>
          <p:cNvSpPr txBox="1"/>
          <p:nvPr/>
        </p:nvSpPr>
        <p:spPr>
          <a:xfrm>
            <a:off x="832103" y="2395728"/>
            <a:ext cx="3200400" cy="237744"/>
          </a:xfrm>
          <a:prstGeom prst="rect">
            <a:avLst/>
          </a:prstGeom>
          <a:noFill/>
        </p:spPr>
        <p:txBody>
          <a:bodyPr wrap="square" lIns="82296" tIns="54864" rIns="82296" bIns="36576">
            <a:spAutoFit/>
          </a:bodyPr>
          <a:lstStyle/>
          <a:p>
            <a:pPr algn="l">
              <a:spcAft>
                <a:spcPts val="1000"/>
              </a:spcAft>
            </a:pPr>
            <a:r>
              <a:rPr sz="1500" b="1">
                <a:solidFill>
                  <a:srgbClr val="FFD368"/>
                </a:solidFill>
                <a:latin typeface="Aptos"/>
              </a:rPr>
              <a:t>LEVEL 5  •  FIRST</a:t>
            </a:r>
          </a:p>
        </p:txBody>
      </p:sp>
      <p:sp>
        <p:nvSpPr>
          <p:cNvPr id="179" name="TextBox 178"/>
          <p:cNvSpPr txBox="1"/>
          <p:nvPr/>
        </p:nvSpPr>
        <p:spPr>
          <a:xfrm>
            <a:off x="813816" y="2889504"/>
            <a:ext cx="3246120" cy="594360"/>
          </a:xfrm>
          <a:prstGeom prst="rect">
            <a:avLst/>
          </a:prstGeom>
          <a:noFill/>
        </p:spPr>
        <p:txBody>
          <a:bodyPr wrap="square" lIns="82296" tIns="54864" rIns="82296" bIns="36576">
            <a:spAutoFit/>
          </a:bodyPr>
          <a:lstStyle/>
          <a:p>
            <a:pPr algn="l">
              <a:spcAft>
                <a:spcPts val="1000"/>
              </a:spcAft>
            </a:pPr>
            <a:r>
              <a:rPr sz="1500" b="0">
                <a:solidFill>
                  <a:srgbClr val="F8FBF7"/>
                </a:solidFill>
                <a:latin typeface="Aptos"/>
              </a:rPr>
              <a:t>•  003  String storage / bounds</a:t>
            </a:r>
          </a:p>
        </p:txBody>
      </p:sp>
      <p:sp>
        <p:nvSpPr>
          <p:cNvPr id="180" name="TextBox 179"/>
          <p:cNvSpPr txBox="1"/>
          <p:nvPr/>
        </p:nvSpPr>
        <p:spPr>
          <a:xfrm>
            <a:off x="813816" y="3502152"/>
            <a:ext cx="3246120" cy="594360"/>
          </a:xfrm>
          <a:prstGeom prst="rect">
            <a:avLst/>
          </a:prstGeom>
          <a:noFill/>
        </p:spPr>
        <p:txBody>
          <a:bodyPr wrap="square" lIns="82296" tIns="54864" rIns="82296" bIns="36576">
            <a:spAutoFit/>
          </a:bodyPr>
          <a:lstStyle/>
          <a:p>
            <a:pPr algn="l">
              <a:spcAft>
                <a:spcPts val="1000"/>
              </a:spcAft>
            </a:pPr>
            <a:r>
              <a:rPr sz="1500" b="0">
                <a:solidFill>
                  <a:srgbClr val="F8FBF7"/>
                </a:solidFill>
                <a:latin typeface="Aptos"/>
              </a:rPr>
              <a:t>•  004  Parameterized SQL</a:t>
            </a:r>
          </a:p>
        </p:txBody>
      </p:sp>
      <p:sp>
        <p:nvSpPr>
          <p:cNvPr id="181" name="TextBox 180"/>
          <p:cNvSpPr txBox="1"/>
          <p:nvPr/>
        </p:nvSpPr>
        <p:spPr>
          <a:xfrm>
            <a:off x="813816" y="4114800"/>
            <a:ext cx="3246120" cy="594360"/>
          </a:xfrm>
          <a:prstGeom prst="rect">
            <a:avLst/>
          </a:prstGeom>
          <a:noFill/>
        </p:spPr>
        <p:txBody>
          <a:bodyPr wrap="square" lIns="82296" tIns="54864" rIns="82296" bIns="36576">
            <a:spAutoFit/>
          </a:bodyPr>
          <a:lstStyle/>
          <a:p>
            <a:pPr algn="l">
              <a:spcAft>
                <a:spcPts val="1000"/>
              </a:spcAft>
            </a:pPr>
            <a:r>
              <a:rPr sz="1500" b="0">
                <a:solidFill>
                  <a:srgbClr val="F8FBF7"/>
                </a:solidFill>
                <a:latin typeface="Aptos"/>
              </a:rPr>
              <a:t>•  005  Memory lifetime / UAF</a:t>
            </a:r>
          </a:p>
        </p:txBody>
      </p:sp>
      <p:sp>
        <p:nvSpPr>
          <p:cNvPr id="182" name="Rounded Rectangle 181"/>
          <p:cNvSpPr/>
          <p:nvPr/>
        </p:nvSpPr>
        <p:spPr>
          <a:xfrm>
            <a:off x="4416552" y="2176272"/>
            <a:ext cx="3529584" cy="3621024"/>
          </a:xfrm>
          <a:prstGeom prst="roundRect">
            <a:avLst/>
          </a:prstGeom>
          <a:solidFill>
            <a:srgbClr val="0F1F19"/>
          </a:solidFill>
          <a:ln w="12700">
            <a:solidFill>
              <a:srgbClr val="26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TextBox 182"/>
          <p:cNvSpPr txBox="1"/>
          <p:nvPr/>
        </p:nvSpPr>
        <p:spPr>
          <a:xfrm>
            <a:off x="4581144" y="2395728"/>
            <a:ext cx="3200400" cy="237744"/>
          </a:xfrm>
          <a:prstGeom prst="rect">
            <a:avLst/>
          </a:prstGeom>
          <a:noFill/>
        </p:spPr>
        <p:txBody>
          <a:bodyPr wrap="square" lIns="82296" tIns="54864" rIns="82296" bIns="36576">
            <a:spAutoFit/>
          </a:bodyPr>
          <a:lstStyle/>
          <a:p>
            <a:pPr algn="l">
              <a:spcAft>
                <a:spcPts val="1000"/>
              </a:spcAft>
            </a:pPr>
            <a:r>
              <a:rPr sz="1500" b="1">
                <a:solidFill>
                  <a:srgbClr val="7BBC69"/>
                </a:solidFill>
                <a:latin typeface="Aptos"/>
              </a:rPr>
              <a:t>LEVEL 4  •  NEXT</a:t>
            </a:r>
          </a:p>
        </p:txBody>
      </p:sp>
      <p:sp>
        <p:nvSpPr>
          <p:cNvPr id="184" name="TextBox 183"/>
          <p:cNvSpPr txBox="1"/>
          <p:nvPr/>
        </p:nvSpPr>
        <p:spPr>
          <a:xfrm>
            <a:off x="4562856" y="2889504"/>
            <a:ext cx="3246120" cy="594360"/>
          </a:xfrm>
          <a:prstGeom prst="rect">
            <a:avLst/>
          </a:prstGeom>
          <a:noFill/>
        </p:spPr>
        <p:txBody>
          <a:bodyPr wrap="square" lIns="82296" tIns="54864" rIns="82296" bIns="36576">
            <a:spAutoFit/>
          </a:bodyPr>
          <a:lstStyle/>
          <a:p>
            <a:pPr algn="l">
              <a:spcAft>
                <a:spcPts val="1000"/>
              </a:spcAft>
            </a:pPr>
            <a:r>
              <a:rPr sz="1500" b="0">
                <a:solidFill>
                  <a:srgbClr val="F8FBF7"/>
                </a:solidFill>
                <a:latin typeface="Aptos"/>
              </a:rPr>
              <a:t>•  001  Integer conversions</a:t>
            </a:r>
          </a:p>
        </p:txBody>
      </p:sp>
      <p:sp>
        <p:nvSpPr>
          <p:cNvPr id="185" name="TextBox 184"/>
          <p:cNvSpPr txBox="1"/>
          <p:nvPr/>
        </p:nvSpPr>
        <p:spPr>
          <a:xfrm>
            <a:off x="4562856" y="3502152"/>
            <a:ext cx="3246120" cy="594360"/>
          </a:xfrm>
          <a:prstGeom prst="rect">
            <a:avLst/>
          </a:prstGeom>
          <a:noFill/>
        </p:spPr>
        <p:txBody>
          <a:bodyPr wrap="square" lIns="82296" tIns="54864" rIns="82296" bIns="36576">
            <a:spAutoFit/>
          </a:bodyPr>
          <a:lstStyle/>
          <a:p>
            <a:pPr algn="l">
              <a:spcAft>
                <a:spcPts val="1000"/>
              </a:spcAft>
            </a:pPr>
            <a:r>
              <a:rPr sz="1500" b="0">
                <a:solidFill>
                  <a:srgbClr val="F8FBF7"/>
                </a:solidFill>
                <a:latin typeface="Aptos"/>
              </a:rPr>
              <a:t>•  002  Uninitialized memory</a:t>
            </a:r>
          </a:p>
        </p:txBody>
      </p:sp>
      <p:sp>
        <p:nvSpPr>
          <p:cNvPr id="186" name="TextBox 185"/>
          <p:cNvSpPr txBox="1"/>
          <p:nvPr/>
        </p:nvSpPr>
        <p:spPr>
          <a:xfrm>
            <a:off x="4562856" y="4114800"/>
            <a:ext cx="3246120" cy="594360"/>
          </a:xfrm>
          <a:prstGeom prst="rect">
            <a:avLst/>
          </a:prstGeom>
          <a:noFill/>
        </p:spPr>
        <p:txBody>
          <a:bodyPr wrap="square" lIns="82296" tIns="54864" rIns="82296" bIns="36576">
            <a:spAutoFit/>
          </a:bodyPr>
          <a:lstStyle/>
          <a:p>
            <a:pPr algn="l">
              <a:spcAft>
                <a:spcPts val="1000"/>
              </a:spcAft>
            </a:pPr>
            <a:r>
              <a:rPr sz="1500" b="0">
                <a:solidFill>
                  <a:srgbClr val="F8FBF7"/>
                </a:solidFill>
                <a:latin typeface="Aptos"/>
              </a:rPr>
              <a:t>•  008  Container indices</a:t>
            </a:r>
          </a:p>
        </p:txBody>
      </p:sp>
      <p:sp>
        <p:nvSpPr>
          <p:cNvPr id="187" name="TextBox 186"/>
          <p:cNvSpPr txBox="1"/>
          <p:nvPr/>
        </p:nvSpPr>
        <p:spPr>
          <a:xfrm>
            <a:off x="4562856" y="4727448"/>
            <a:ext cx="3246120" cy="594360"/>
          </a:xfrm>
          <a:prstGeom prst="rect">
            <a:avLst/>
          </a:prstGeom>
          <a:noFill/>
        </p:spPr>
        <p:txBody>
          <a:bodyPr wrap="square" lIns="82296" tIns="54864" rIns="82296" bIns="36576">
            <a:spAutoFit/>
          </a:bodyPr>
          <a:lstStyle/>
          <a:p>
            <a:pPr algn="l">
              <a:spcAft>
                <a:spcPts val="1000"/>
              </a:spcAft>
            </a:pPr>
            <a:r>
              <a:rPr sz="1500" b="0">
                <a:solidFill>
                  <a:srgbClr val="F8FBF7"/>
                </a:solidFill>
                <a:latin typeface="Aptos"/>
              </a:rPr>
              <a:t>•  010  Lock ordering</a:t>
            </a:r>
          </a:p>
        </p:txBody>
      </p:sp>
      <p:sp>
        <p:nvSpPr>
          <p:cNvPr id="188" name="Rounded Rectangle 187"/>
          <p:cNvSpPr/>
          <p:nvPr/>
        </p:nvSpPr>
        <p:spPr>
          <a:xfrm>
            <a:off x="8165592" y="2176272"/>
            <a:ext cx="3529584" cy="3621024"/>
          </a:xfrm>
          <a:prstGeom prst="roundRect">
            <a:avLst/>
          </a:prstGeom>
          <a:solidFill>
            <a:srgbClr val="0F1F19"/>
          </a:solidFill>
          <a:ln w="12700">
            <a:solidFill>
              <a:srgbClr val="26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TextBox 188"/>
          <p:cNvSpPr txBox="1"/>
          <p:nvPr/>
        </p:nvSpPr>
        <p:spPr>
          <a:xfrm>
            <a:off x="8330183" y="2395728"/>
            <a:ext cx="3200400" cy="237744"/>
          </a:xfrm>
          <a:prstGeom prst="rect">
            <a:avLst/>
          </a:prstGeom>
          <a:noFill/>
        </p:spPr>
        <p:txBody>
          <a:bodyPr wrap="square" lIns="82296" tIns="54864" rIns="82296" bIns="36576">
            <a:spAutoFit/>
          </a:bodyPr>
          <a:lstStyle/>
          <a:p>
            <a:pPr algn="l">
              <a:spcAft>
                <a:spcPts val="1000"/>
              </a:spcAft>
            </a:pPr>
            <a:r>
              <a:rPr sz="1500" b="1">
                <a:solidFill>
                  <a:srgbClr val="7BBC69"/>
                </a:solidFill>
                <a:latin typeface="Aptos"/>
              </a:rPr>
              <a:t>LEVEL 3  •  MONITOR</a:t>
            </a:r>
          </a:p>
        </p:txBody>
      </p:sp>
      <p:sp>
        <p:nvSpPr>
          <p:cNvPr id="190" name="TextBox 189"/>
          <p:cNvSpPr txBox="1"/>
          <p:nvPr/>
        </p:nvSpPr>
        <p:spPr>
          <a:xfrm>
            <a:off x="8311896" y="2889504"/>
            <a:ext cx="3246120" cy="594360"/>
          </a:xfrm>
          <a:prstGeom prst="rect">
            <a:avLst/>
          </a:prstGeom>
          <a:noFill/>
        </p:spPr>
        <p:txBody>
          <a:bodyPr wrap="square" lIns="82296" tIns="54864" rIns="82296" bIns="36576">
            <a:spAutoFit/>
          </a:bodyPr>
          <a:lstStyle/>
          <a:p>
            <a:pPr algn="l">
              <a:spcAft>
                <a:spcPts val="1000"/>
              </a:spcAft>
            </a:pPr>
            <a:r>
              <a:rPr sz="1500" b="0">
                <a:solidFill>
                  <a:srgbClr val="F8FBF7"/>
                </a:solidFill>
                <a:latin typeface="Aptos"/>
              </a:rPr>
              <a:t>•  006  Assertions</a:t>
            </a:r>
          </a:p>
        </p:txBody>
      </p:sp>
      <p:sp>
        <p:nvSpPr>
          <p:cNvPr id="191" name="TextBox 190"/>
          <p:cNvSpPr txBox="1"/>
          <p:nvPr/>
        </p:nvSpPr>
        <p:spPr>
          <a:xfrm>
            <a:off x="8311896" y="3502152"/>
            <a:ext cx="3246120" cy="594360"/>
          </a:xfrm>
          <a:prstGeom prst="rect">
            <a:avLst/>
          </a:prstGeom>
          <a:noFill/>
        </p:spPr>
        <p:txBody>
          <a:bodyPr wrap="square" lIns="82296" tIns="54864" rIns="82296" bIns="36576">
            <a:spAutoFit/>
          </a:bodyPr>
          <a:lstStyle/>
          <a:p>
            <a:pPr algn="l">
              <a:spcAft>
                <a:spcPts val="1000"/>
              </a:spcAft>
            </a:pPr>
            <a:r>
              <a:rPr sz="1500" b="0">
                <a:solidFill>
                  <a:srgbClr val="F8FBF7"/>
                </a:solidFill>
                <a:latin typeface="Aptos"/>
              </a:rPr>
              <a:t>•  007  Exceptions</a:t>
            </a:r>
          </a:p>
        </p:txBody>
      </p:sp>
      <p:sp>
        <p:nvSpPr>
          <p:cNvPr id="192" name="TextBox 191"/>
          <p:cNvSpPr txBox="1"/>
          <p:nvPr/>
        </p:nvSpPr>
        <p:spPr>
          <a:xfrm>
            <a:off x="8311896" y="4114800"/>
            <a:ext cx="3246120" cy="594360"/>
          </a:xfrm>
          <a:prstGeom prst="rect">
            <a:avLst/>
          </a:prstGeom>
          <a:noFill/>
        </p:spPr>
        <p:txBody>
          <a:bodyPr wrap="square" lIns="82296" tIns="54864" rIns="82296" bIns="36576">
            <a:spAutoFit/>
          </a:bodyPr>
          <a:lstStyle/>
          <a:p>
            <a:pPr algn="l">
              <a:spcAft>
                <a:spcPts val="1000"/>
              </a:spcAft>
            </a:pPr>
            <a:r>
              <a:rPr sz="1500" b="0">
                <a:solidFill>
                  <a:srgbClr val="F8FBF7"/>
                </a:solidFill>
                <a:latin typeface="Aptos"/>
              </a:rPr>
              <a:t>•  009  File handling</a:t>
            </a:r>
          </a:p>
        </p:txBody>
      </p:sp>
      <p:sp>
        <p:nvSpPr>
          <p:cNvPr id="193" name="TextBox 192"/>
          <p:cNvSpPr txBox="1"/>
          <p:nvPr/>
        </p:nvSpPr>
        <p:spPr>
          <a:xfrm>
            <a:off x="713232" y="6108192"/>
            <a:ext cx="10972800" cy="237744"/>
          </a:xfrm>
          <a:prstGeom prst="rect">
            <a:avLst/>
          </a:prstGeom>
          <a:noFill/>
        </p:spPr>
        <p:txBody>
          <a:bodyPr wrap="square" lIns="82296" tIns="54864" rIns="82296" bIns="36576">
            <a:spAutoFit/>
          </a:bodyPr>
          <a:lstStyle/>
          <a:p>
            <a:pPr algn="l">
              <a:spcAft>
                <a:spcPts val="1000"/>
              </a:spcAft>
            </a:pPr>
            <a:r>
              <a:rPr sz="1100" b="1">
                <a:solidFill>
                  <a:srgbClr val="D1D7D6"/>
                </a:solidFill>
                <a:latin typeface="Aptos"/>
              </a:rPr>
              <a:t>PRIORITY USES IMPACT × LIKELIHOOD, THEN REMEDIATION EFFORT; ALL RATINGS ARE PROVISIONAL</a:t>
            </a: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82296" tIns="54864" rIns="82296" bIns="36576" anchor="ctr" anchorCtr="0">
            <a:normAutofit/>
          </a:bodyPr>
          <a:lstStyle/>
          <a:p>
            <a:pPr marL="0" lvl="0" indent="0" algn="l" rtl="0">
              <a:lnSpc>
                <a:spcPct val="90000"/>
              </a:lnSpc>
              <a:spcBef>
                <a:spcPts val="0"/>
              </a:spcBef>
              <a:spcAft>
                <a:spcPts val="1000"/>
              </a:spcAft>
              <a:buClr>
                <a:schemeClr val="lt1"/>
              </a:buClr>
              <a:buSzPts val="4000"/>
              <a:buFont typeface="Century Gothic"/>
              <a:buNone/>
            </a:pPr>
            <a:r>
              <a:rPr sz="3000" b="0">
                <a:solidFill>
                  <a:srgbClr val="F8FBF7"/>
                </a:solidFill>
                <a:latin typeface="Aptos"/>
              </a:rPr>
              <a:t>ENCRYPTION  |  THREE DATA STATES</a:t>
            </a:r>
            <a:endParaRPr/>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184" name="Rounded Rectangle 183"/>
          <p:cNvSpPr/>
          <p:nvPr/>
        </p:nvSpPr>
        <p:spPr>
          <a:xfrm>
            <a:off x="667512" y="2331720"/>
            <a:ext cx="3520440" cy="3456432"/>
          </a:xfrm>
          <a:prstGeom prst="roundRect">
            <a:avLst/>
          </a:prstGeom>
          <a:solidFill>
            <a:srgbClr val="0F1F19"/>
          </a:solidFill>
          <a:ln w="12700">
            <a:solidFill>
              <a:srgbClr val="26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TextBox 184"/>
          <p:cNvSpPr txBox="1"/>
          <p:nvPr/>
        </p:nvSpPr>
        <p:spPr>
          <a:xfrm>
            <a:off x="822960" y="2569464"/>
            <a:ext cx="3200400" cy="237744"/>
          </a:xfrm>
          <a:prstGeom prst="rect">
            <a:avLst/>
          </a:prstGeom>
          <a:noFill/>
        </p:spPr>
        <p:txBody>
          <a:bodyPr wrap="square" lIns="82296" tIns="54864" rIns="82296" bIns="36576">
            <a:spAutoFit/>
          </a:bodyPr>
          <a:lstStyle/>
          <a:p>
            <a:pPr algn="l">
              <a:spcAft>
                <a:spcPts val="1000"/>
              </a:spcAft>
            </a:pPr>
            <a:r>
              <a:rPr sz="1800" b="1">
                <a:solidFill>
                  <a:srgbClr val="98E3AF"/>
                </a:solidFill>
                <a:latin typeface="Aptos"/>
              </a:rPr>
              <a:t>IN FLIGHT</a:t>
            </a:r>
          </a:p>
        </p:txBody>
      </p:sp>
      <p:sp>
        <p:nvSpPr>
          <p:cNvPr id="186" name="TextBox 185"/>
          <p:cNvSpPr txBox="1"/>
          <p:nvPr/>
        </p:nvSpPr>
        <p:spPr>
          <a:xfrm>
            <a:off x="822960" y="3035808"/>
            <a:ext cx="3218688" cy="1078992"/>
          </a:xfrm>
          <a:prstGeom prst="rect">
            <a:avLst/>
          </a:prstGeom>
          <a:noFill/>
        </p:spPr>
        <p:txBody>
          <a:bodyPr wrap="square" lIns="82296" tIns="54864" rIns="82296" bIns="36576">
            <a:spAutoFit/>
          </a:bodyPr>
          <a:lstStyle/>
          <a:p>
            <a:pPr algn="l">
              <a:spcAft>
                <a:spcPts val="1000"/>
              </a:spcAft>
            </a:pPr>
            <a:r>
              <a:rPr sz="1800" b="0">
                <a:solidFill>
                  <a:srgbClr val="F8FBF7"/>
                </a:solidFill>
                <a:latin typeface="Aptos"/>
              </a:rPr>
              <a:t>Modern TLS (1.2 / 1.3), certificate validation, authenticated channels.</a:t>
            </a:r>
          </a:p>
        </p:txBody>
      </p:sp>
      <p:sp>
        <p:nvSpPr>
          <p:cNvPr id="187" name="Rectangle 186"/>
          <p:cNvSpPr/>
          <p:nvPr/>
        </p:nvSpPr>
        <p:spPr>
          <a:xfrm>
            <a:off x="832103" y="4379976"/>
            <a:ext cx="3163824" cy="36576"/>
          </a:xfrm>
          <a:prstGeom prst="rect">
            <a:avLst/>
          </a:prstGeom>
          <a:solidFill>
            <a:srgbClr val="7BB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TextBox 187"/>
          <p:cNvSpPr txBox="1"/>
          <p:nvPr/>
        </p:nvSpPr>
        <p:spPr>
          <a:xfrm>
            <a:off x="822960" y="4572000"/>
            <a:ext cx="3227832" cy="978408"/>
          </a:xfrm>
          <a:prstGeom prst="rect">
            <a:avLst/>
          </a:prstGeom>
          <a:noFill/>
        </p:spPr>
        <p:txBody>
          <a:bodyPr wrap="square" lIns="82296" tIns="54864" rIns="82296" bIns="36576">
            <a:spAutoFit/>
          </a:bodyPr>
          <a:lstStyle/>
          <a:p>
            <a:pPr algn="l">
              <a:spcAft>
                <a:spcPts val="1000"/>
              </a:spcAft>
            </a:pPr>
            <a:r>
              <a:rPr sz="1500" b="0">
                <a:solidFill>
                  <a:srgbClr val="D1D7D6"/>
                </a:solidFill>
                <a:latin typeface="Aptos"/>
              </a:rPr>
              <a:t>Protects traffic between browsers, APIs, and services.</a:t>
            </a:r>
          </a:p>
        </p:txBody>
      </p:sp>
      <p:sp>
        <p:nvSpPr>
          <p:cNvPr id="189" name="Rounded Rectangle 188"/>
          <p:cNvSpPr/>
          <p:nvPr/>
        </p:nvSpPr>
        <p:spPr>
          <a:xfrm>
            <a:off x="4416552" y="2331720"/>
            <a:ext cx="3520440" cy="3456432"/>
          </a:xfrm>
          <a:prstGeom prst="roundRect">
            <a:avLst/>
          </a:prstGeom>
          <a:solidFill>
            <a:srgbClr val="0F1F19"/>
          </a:solidFill>
          <a:ln w="12700">
            <a:solidFill>
              <a:srgbClr val="26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TextBox 189"/>
          <p:cNvSpPr txBox="1"/>
          <p:nvPr/>
        </p:nvSpPr>
        <p:spPr>
          <a:xfrm>
            <a:off x="4572000" y="2569464"/>
            <a:ext cx="3200400" cy="237744"/>
          </a:xfrm>
          <a:prstGeom prst="rect">
            <a:avLst/>
          </a:prstGeom>
          <a:noFill/>
        </p:spPr>
        <p:txBody>
          <a:bodyPr wrap="square" lIns="82296" tIns="54864" rIns="82296" bIns="36576">
            <a:spAutoFit/>
          </a:bodyPr>
          <a:lstStyle/>
          <a:p>
            <a:pPr algn="l">
              <a:spcAft>
                <a:spcPts val="1000"/>
              </a:spcAft>
            </a:pPr>
            <a:r>
              <a:rPr sz="1800" b="1">
                <a:solidFill>
                  <a:srgbClr val="98E3AF"/>
                </a:solidFill>
                <a:latin typeface="Aptos"/>
              </a:rPr>
              <a:t>AT REST</a:t>
            </a:r>
          </a:p>
        </p:txBody>
      </p:sp>
      <p:sp>
        <p:nvSpPr>
          <p:cNvPr id="191" name="TextBox 190"/>
          <p:cNvSpPr txBox="1"/>
          <p:nvPr/>
        </p:nvSpPr>
        <p:spPr>
          <a:xfrm>
            <a:off x="4572000" y="3035808"/>
            <a:ext cx="3218688" cy="1078992"/>
          </a:xfrm>
          <a:prstGeom prst="rect">
            <a:avLst/>
          </a:prstGeom>
          <a:noFill/>
        </p:spPr>
        <p:txBody>
          <a:bodyPr wrap="square" lIns="82296" tIns="54864" rIns="82296" bIns="36576">
            <a:spAutoFit/>
          </a:bodyPr>
          <a:lstStyle/>
          <a:p>
            <a:pPr algn="l">
              <a:spcAft>
                <a:spcPts val="1000"/>
              </a:spcAft>
            </a:pPr>
            <a:r>
              <a:rPr sz="1800" b="0">
                <a:solidFill>
                  <a:srgbClr val="F8FBF7"/>
                </a:solidFill>
                <a:latin typeface="Aptos"/>
              </a:rPr>
              <a:t>Approved encryption for sensitive files, databases, devices, and backups.</a:t>
            </a:r>
          </a:p>
        </p:txBody>
      </p:sp>
      <p:sp>
        <p:nvSpPr>
          <p:cNvPr id="192" name="Rectangle 191"/>
          <p:cNvSpPr/>
          <p:nvPr/>
        </p:nvSpPr>
        <p:spPr>
          <a:xfrm>
            <a:off x="4581144" y="4379976"/>
            <a:ext cx="3163824" cy="36576"/>
          </a:xfrm>
          <a:prstGeom prst="rect">
            <a:avLst/>
          </a:prstGeom>
          <a:solidFill>
            <a:srgbClr val="7BB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TextBox 192"/>
          <p:cNvSpPr txBox="1"/>
          <p:nvPr/>
        </p:nvSpPr>
        <p:spPr>
          <a:xfrm>
            <a:off x="4572000" y="4572000"/>
            <a:ext cx="3227832" cy="978408"/>
          </a:xfrm>
          <a:prstGeom prst="rect">
            <a:avLst/>
          </a:prstGeom>
          <a:noFill/>
        </p:spPr>
        <p:txBody>
          <a:bodyPr wrap="square" lIns="82296" tIns="54864" rIns="82296" bIns="36576">
            <a:spAutoFit/>
          </a:bodyPr>
          <a:lstStyle/>
          <a:p>
            <a:pPr algn="l">
              <a:spcAft>
                <a:spcPts val="1000"/>
              </a:spcAft>
            </a:pPr>
            <a:r>
              <a:rPr sz="1500" b="0">
                <a:solidFill>
                  <a:srgbClr val="D1D7D6"/>
                </a:solidFill>
                <a:latin typeface="Aptos"/>
              </a:rPr>
              <a:t>Protect keys separately; restrict access and rotate by policy.</a:t>
            </a:r>
          </a:p>
        </p:txBody>
      </p:sp>
      <p:sp>
        <p:nvSpPr>
          <p:cNvPr id="194" name="Rounded Rectangle 193"/>
          <p:cNvSpPr/>
          <p:nvPr/>
        </p:nvSpPr>
        <p:spPr>
          <a:xfrm>
            <a:off x="8165592" y="2331720"/>
            <a:ext cx="3520440" cy="3456432"/>
          </a:xfrm>
          <a:prstGeom prst="roundRect">
            <a:avLst/>
          </a:prstGeom>
          <a:solidFill>
            <a:srgbClr val="0F1F19"/>
          </a:solidFill>
          <a:ln w="12700">
            <a:solidFill>
              <a:srgbClr val="26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TextBox 194"/>
          <p:cNvSpPr txBox="1"/>
          <p:nvPr/>
        </p:nvSpPr>
        <p:spPr>
          <a:xfrm>
            <a:off x="8321040" y="2569464"/>
            <a:ext cx="3200400" cy="237744"/>
          </a:xfrm>
          <a:prstGeom prst="rect">
            <a:avLst/>
          </a:prstGeom>
          <a:noFill/>
        </p:spPr>
        <p:txBody>
          <a:bodyPr wrap="square" lIns="82296" tIns="54864" rIns="82296" bIns="36576">
            <a:spAutoFit/>
          </a:bodyPr>
          <a:lstStyle/>
          <a:p>
            <a:pPr algn="l">
              <a:spcAft>
                <a:spcPts val="1000"/>
              </a:spcAft>
            </a:pPr>
            <a:r>
              <a:rPr sz="1800" b="1">
                <a:solidFill>
                  <a:srgbClr val="98E3AF"/>
                </a:solidFill>
                <a:latin typeface="Aptos"/>
              </a:rPr>
              <a:t>IN USE</a:t>
            </a:r>
          </a:p>
        </p:txBody>
      </p:sp>
      <p:sp>
        <p:nvSpPr>
          <p:cNvPr id="196" name="TextBox 195"/>
          <p:cNvSpPr txBox="1"/>
          <p:nvPr/>
        </p:nvSpPr>
        <p:spPr>
          <a:xfrm>
            <a:off x="8321040" y="3035808"/>
            <a:ext cx="3218688" cy="1078992"/>
          </a:xfrm>
          <a:prstGeom prst="rect">
            <a:avLst/>
          </a:prstGeom>
          <a:noFill/>
        </p:spPr>
        <p:txBody>
          <a:bodyPr wrap="square" lIns="82296" tIns="54864" rIns="82296" bIns="36576">
            <a:spAutoFit/>
          </a:bodyPr>
          <a:lstStyle/>
          <a:p>
            <a:pPr algn="l">
              <a:spcAft>
                <a:spcPts val="1000"/>
              </a:spcAft>
            </a:pPr>
            <a:r>
              <a:rPr sz="1800" b="0">
                <a:solidFill>
                  <a:srgbClr val="F8FBF7"/>
                </a:solidFill>
                <a:latin typeface="Aptos"/>
              </a:rPr>
              <a:t>Least-privilege processing, memory hygiene, and short-lived secrets.</a:t>
            </a:r>
          </a:p>
        </p:txBody>
      </p:sp>
      <p:sp>
        <p:nvSpPr>
          <p:cNvPr id="197" name="Rectangle 196"/>
          <p:cNvSpPr/>
          <p:nvPr/>
        </p:nvSpPr>
        <p:spPr>
          <a:xfrm>
            <a:off x="8330183" y="4379976"/>
            <a:ext cx="3163824" cy="36576"/>
          </a:xfrm>
          <a:prstGeom prst="rect">
            <a:avLst/>
          </a:prstGeom>
          <a:solidFill>
            <a:srgbClr val="7BB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TextBox 197"/>
          <p:cNvSpPr txBox="1"/>
          <p:nvPr/>
        </p:nvSpPr>
        <p:spPr>
          <a:xfrm>
            <a:off x="8321040" y="4572000"/>
            <a:ext cx="3227832" cy="978408"/>
          </a:xfrm>
          <a:prstGeom prst="rect">
            <a:avLst/>
          </a:prstGeom>
          <a:noFill/>
        </p:spPr>
        <p:txBody>
          <a:bodyPr wrap="square" lIns="82296" tIns="54864" rIns="82296" bIns="36576">
            <a:spAutoFit/>
          </a:bodyPr>
          <a:lstStyle/>
          <a:p>
            <a:pPr algn="l">
              <a:spcAft>
                <a:spcPts val="1000"/>
              </a:spcAft>
            </a:pPr>
            <a:r>
              <a:rPr sz="1500" b="0">
                <a:solidFill>
                  <a:srgbClr val="D1D7D6"/>
                </a:solidFill>
                <a:latin typeface="Aptos"/>
              </a:rPr>
              <a:t>Consider confidential computing when risk justifies it.</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82296" tIns="54864" rIns="82296" bIns="36576" anchor="ctr" anchorCtr="0">
            <a:normAutofit/>
          </a:bodyPr>
          <a:lstStyle/>
          <a:p>
            <a:pPr marL="0" lvl="0" indent="0" algn="l" rtl="0">
              <a:lnSpc>
                <a:spcPct val="90000"/>
              </a:lnSpc>
              <a:spcBef>
                <a:spcPts val="0"/>
              </a:spcBef>
              <a:spcAft>
                <a:spcPts val="1000"/>
              </a:spcAft>
              <a:buClr>
                <a:schemeClr val="lt1"/>
              </a:buClr>
              <a:buSzPts val="4000"/>
              <a:buFont typeface="Century Gothic"/>
              <a:buNone/>
            </a:pPr>
            <a:r>
              <a:rPr sz="3000" b="0">
                <a:solidFill>
                  <a:srgbClr val="F8FBF7"/>
                </a:solidFill>
                <a:latin typeface="Aptos"/>
              </a:rPr>
              <a:t>TRIPLE-A  |  IDENTITY AND EVIDENCE</a:t>
            </a:r>
            <a:endParaRPr/>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191" name="Rounded Rectangle 190"/>
          <p:cNvSpPr/>
          <p:nvPr/>
        </p:nvSpPr>
        <p:spPr>
          <a:xfrm>
            <a:off x="667512" y="2368296"/>
            <a:ext cx="3529584" cy="3383280"/>
          </a:xfrm>
          <a:prstGeom prst="roundRect">
            <a:avLst/>
          </a:prstGeom>
          <a:solidFill>
            <a:srgbClr val="0F1F19"/>
          </a:solidFill>
          <a:ln w="12700">
            <a:solidFill>
              <a:srgbClr val="26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TextBox 191"/>
          <p:cNvSpPr txBox="1"/>
          <p:nvPr/>
        </p:nvSpPr>
        <p:spPr>
          <a:xfrm>
            <a:off x="822960" y="2606040"/>
            <a:ext cx="3218688" cy="237744"/>
          </a:xfrm>
          <a:prstGeom prst="rect">
            <a:avLst/>
          </a:prstGeom>
          <a:noFill/>
        </p:spPr>
        <p:txBody>
          <a:bodyPr wrap="square" lIns="82296" tIns="54864" rIns="82296" bIns="36576">
            <a:spAutoFit/>
          </a:bodyPr>
          <a:lstStyle/>
          <a:p>
            <a:pPr algn="l">
              <a:spcAft>
                <a:spcPts val="1000"/>
              </a:spcAft>
            </a:pPr>
            <a:r>
              <a:rPr sz="1700" b="1">
                <a:solidFill>
                  <a:srgbClr val="98E3AF"/>
                </a:solidFill>
                <a:latin typeface="Aptos"/>
              </a:rPr>
              <a:t>AUTHENTICATION</a:t>
            </a:r>
          </a:p>
        </p:txBody>
      </p:sp>
      <p:sp>
        <p:nvSpPr>
          <p:cNvPr id="193" name="TextBox 192"/>
          <p:cNvSpPr txBox="1"/>
          <p:nvPr/>
        </p:nvSpPr>
        <p:spPr>
          <a:xfrm>
            <a:off x="822960" y="3072384"/>
            <a:ext cx="3200400" cy="548640"/>
          </a:xfrm>
          <a:prstGeom prst="rect">
            <a:avLst/>
          </a:prstGeom>
          <a:noFill/>
        </p:spPr>
        <p:txBody>
          <a:bodyPr wrap="square" lIns="82296" tIns="54864" rIns="82296" bIns="36576">
            <a:spAutoFit/>
          </a:bodyPr>
          <a:lstStyle/>
          <a:p>
            <a:pPr algn="l">
              <a:spcAft>
                <a:spcPts val="1000"/>
              </a:spcAft>
            </a:pPr>
            <a:r>
              <a:rPr sz="1800" b="1">
                <a:solidFill>
                  <a:srgbClr val="FFD368"/>
                </a:solidFill>
                <a:latin typeface="Aptos"/>
              </a:rPr>
              <a:t>Who are you?</a:t>
            </a:r>
          </a:p>
        </p:txBody>
      </p:sp>
      <p:sp>
        <p:nvSpPr>
          <p:cNvPr id="194" name="TextBox 193"/>
          <p:cNvSpPr txBox="1"/>
          <p:nvPr/>
        </p:nvSpPr>
        <p:spPr>
          <a:xfrm>
            <a:off x="822960" y="3703320"/>
            <a:ext cx="3200400" cy="1618488"/>
          </a:xfrm>
          <a:prstGeom prst="rect">
            <a:avLst/>
          </a:prstGeom>
          <a:noFill/>
        </p:spPr>
        <p:txBody>
          <a:bodyPr wrap="square" lIns="82296" tIns="54864" rIns="82296" bIns="36576">
            <a:spAutoFit/>
          </a:bodyPr>
          <a:lstStyle/>
          <a:p>
            <a:pPr algn="l">
              <a:spcAft>
                <a:spcPts val="1000"/>
              </a:spcAft>
            </a:pPr>
            <a:r>
              <a:rPr sz="1800" b="0">
                <a:solidFill>
                  <a:srgbClr val="F8FBF7"/>
                </a:solidFill>
                <a:latin typeface="Aptos"/>
              </a:rPr>
              <a:t>Unique identities, MFA for privileged access, safe credential storage.</a:t>
            </a:r>
          </a:p>
        </p:txBody>
      </p:sp>
      <p:sp>
        <p:nvSpPr>
          <p:cNvPr id="195" name="Rounded Rectangle 194"/>
          <p:cNvSpPr/>
          <p:nvPr/>
        </p:nvSpPr>
        <p:spPr>
          <a:xfrm>
            <a:off x="4416552" y="2368296"/>
            <a:ext cx="3529584" cy="3383280"/>
          </a:xfrm>
          <a:prstGeom prst="roundRect">
            <a:avLst/>
          </a:prstGeom>
          <a:solidFill>
            <a:srgbClr val="0F1F19"/>
          </a:solidFill>
          <a:ln w="12700">
            <a:solidFill>
              <a:srgbClr val="26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TextBox 195"/>
          <p:cNvSpPr txBox="1"/>
          <p:nvPr/>
        </p:nvSpPr>
        <p:spPr>
          <a:xfrm>
            <a:off x="4572000" y="2606040"/>
            <a:ext cx="3218688" cy="237744"/>
          </a:xfrm>
          <a:prstGeom prst="rect">
            <a:avLst/>
          </a:prstGeom>
          <a:noFill/>
        </p:spPr>
        <p:txBody>
          <a:bodyPr wrap="square" lIns="82296" tIns="54864" rIns="82296" bIns="36576">
            <a:spAutoFit/>
          </a:bodyPr>
          <a:lstStyle/>
          <a:p>
            <a:pPr algn="l">
              <a:spcAft>
                <a:spcPts val="1000"/>
              </a:spcAft>
            </a:pPr>
            <a:r>
              <a:rPr sz="1700" b="1">
                <a:solidFill>
                  <a:srgbClr val="98E3AF"/>
                </a:solidFill>
                <a:latin typeface="Aptos"/>
              </a:rPr>
              <a:t>AUTHORIZATION</a:t>
            </a:r>
          </a:p>
        </p:txBody>
      </p:sp>
      <p:sp>
        <p:nvSpPr>
          <p:cNvPr id="197" name="TextBox 196"/>
          <p:cNvSpPr txBox="1"/>
          <p:nvPr/>
        </p:nvSpPr>
        <p:spPr>
          <a:xfrm>
            <a:off x="4572000" y="3072384"/>
            <a:ext cx="3200400" cy="548640"/>
          </a:xfrm>
          <a:prstGeom prst="rect">
            <a:avLst/>
          </a:prstGeom>
          <a:noFill/>
        </p:spPr>
        <p:txBody>
          <a:bodyPr wrap="square" lIns="82296" tIns="54864" rIns="82296" bIns="36576">
            <a:spAutoFit/>
          </a:bodyPr>
          <a:lstStyle/>
          <a:p>
            <a:pPr algn="l">
              <a:spcAft>
                <a:spcPts val="1000"/>
              </a:spcAft>
            </a:pPr>
            <a:r>
              <a:rPr sz="1800" b="1">
                <a:solidFill>
                  <a:srgbClr val="FFD368"/>
                </a:solidFill>
                <a:latin typeface="Aptos"/>
              </a:rPr>
              <a:t>What may you do?</a:t>
            </a:r>
          </a:p>
        </p:txBody>
      </p:sp>
      <p:sp>
        <p:nvSpPr>
          <p:cNvPr id="198" name="TextBox 197"/>
          <p:cNvSpPr txBox="1"/>
          <p:nvPr/>
        </p:nvSpPr>
        <p:spPr>
          <a:xfrm>
            <a:off x="4572000" y="3703320"/>
            <a:ext cx="3200400" cy="1618488"/>
          </a:xfrm>
          <a:prstGeom prst="rect">
            <a:avLst/>
          </a:prstGeom>
          <a:noFill/>
        </p:spPr>
        <p:txBody>
          <a:bodyPr wrap="square" lIns="82296" tIns="54864" rIns="82296" bIns="36576">
            <a:spAutoFit/>
          </a:bodyPr>
          <a:lstStyle/>
          <a:p>
            <a:pPr algn="l">
              <a:spcAft>
                <a:spcPts val="1000"/>
              </a:spcAft>
            </a:pPr>
            <a:r>
              <a:rPr sz="1800" b="0">
                <a:solidFill>
                  <a:srgbClr val="F8FBF7"/>
                </a:solidFill>
                <a:latin typeface="Aptos"/>
              </a:rPr>
              <a:t>Least privilege, default deny, RBAC or ABAC at each sensitive endpoint.</a:t>
            </a:r>
          </a:p>
        </p:txBody>
      </p:sp>
      <p:sp>
        <p:nvSpPr>
          <p:cNvPr id="199" name="Rounded Rectangle 198"/>
          <p:cNvSpPr/>
          <p:nvPr/>
        </p:nvSpPr>
        <p:spPr>
          <a:xfrm>
            <a:off x="8165592" y="2368296"/>
            <a:ext cx="3529584" cy="3383280"/>
          </a:xfrm>
          <a:prstGeom prst="roundRect">
            <a:avLst/>
          </a:prstGeom>
          <a:solidFill>
            <a:srgbClr val="0F1F19"/>
          </a:solidFill>
          <a:ln w="12700">
            <a:solidFill>
              <a:srgbClr val="26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TextBox 199"/>
          <p:cNvSpPr txBox="1"/>
          <p:nvPr/>
        </p:nvSpPr>
        <p:spPr>
          <a:xfrm>
            <a:off x="8321040" y="2606040"/>
            <a:ext cx="3218688" cy="237744"/>
          </a:xfrm>
          <a:prstGeom prst="rect">
            <a:avLst/>
          </a:prstGeom>
          <a:noFill/>
        </p:spPr>
        <p:txBody>
          <a:bodyPr wrap="square" lIns="82296" tIns="54864" rIns="82296" bIns="36576">
            <a:spAutoFit/>
          </a:bodyPr>
          <a:lstStyle/>
          <a:p>
            <a:pPr algn="l">
              <a:spcAft>
                <a:spcPts val="1000"/>
              </a:spcAft>
            </a:pPr>
            <a:r>
              <a:rPr sz="1700" b="1">
                <a:solidFill>
                  <a:srgbClr val="98E3AF"/>
                </a:solidFill>
                <a:latin typeface="Aptos"/>
              </a:rPr>
              <a:t>ACCOUNTING</a:t>
            </a:r>
          </a:p>
        </p:txBody>
      </p:sp>
      <p:sp>
        <p:nvSpPr>
          <p:cNvPr id="201" name="TextBox 200"/>
          <p:cNvSpPr txBox="1"/>
          <p:nvPr/>
        </p:nvSpPr>
        <p:spPr>
          <a:xfrm>
            <a:off x="8321040" y="3072384"/>
            <a:ext cx="3200400" cy="548640"/>
          </a:xfrm>
          <a:prstGeom prst="rect">
            <a:avLst/>
          </a:prstGeom>
          <a:noFill/>
        </p:spPr>
        <p:txBody>
          <a:bodyPr wrap="square" lIns="82296" tIns="54864" rIns="82296" bIns="36576">
            <a:spAutoFit/>
          </a:bodyPr>
          <a:lstStyle/>
          <a:p>
            <a:pPr algn="l">
              <a:spcAft>
                <a:spcPts val="1000"/>
              </a:spcAft>
            </a:pPr>
            <a:r>
              <a:rPr sz="1800" b="1">
                <a:solidFill>
                  <a:srgbClr val="FFD368"/>
                </a:solidFill>
                <a:latin typeface="Aptos"/>
              </a:rPr>
              <a:t>What happened?</a:t>
            </a:r>
          </a:p>
        </p:txBody>
      </p:sp>
      <p:sp>
        <p:nvSpPr>
          <p:cNvPr id="202" name="TextBox 201"/>
          <p:cNvSpPr txBox="1"/>
          <p:nvPr/>
        </p:nvSpPr>
        <p:spPr>
          <a:xfrm>
            <a:off x="8321040" y="3703320"/>
            <a:ext cx="3200400" cy="1618488"/>
          </a:xfrm>
          <a:prstGeom prst="rect">
            <a:avLst/>
          </a:prstGeom>
          <a:noFill/>
        </p:spPr>
        <p:txBody>
          <a:bodyPr wrap="square" lIns="82296" tIns="54864" rIns="82296" bIns="36576">
            <a:spAutoFit/>
          </a:bodyPr>
          <a:lstStyle/>
          <a:p>
            <a:pPr algn="l">
              <a:spcAft>
                <a:spcPts val="1000"/>
              </a:spcAft>
            </a:pPr>
            <a:r>
              <a:rPr sz="1800" b="0">
                <a:solidFill>
                  <a:srgbClr val="F8FBF7"/>
                </a:solidFill>
                <a:latin typeface="Aptos"/>
              </a:rPr>
              <a:t>Record logins, data changes, access, account creation and outcomes.</a:t>
            </a:r>
          </a:p>
        </p:txBody>
      </p:sp>
      <p:sp>
        <p:nvSpPr>
          <p:cNvPr id="203" name="TextBox 202"/>
          <p:cNvSpPr txBox="1"/>
          <p:nvPr/>
        </p:nvSpPr>
        <p:spPr>
          <a:xfrm>
            <a:off x="704088" y="6080760"/>
            <a:ext cx="10972800" cy="237744"/>
          </a:xfrm>
          <a:prstGeom prst="rect">
            <a:avLst/>
          </a:prstGeom>
          <a:noFill/>
        </p:spPr>
        <p:txBody>
          <a:bodyPr wrap="square" lIns="82296" tIns="54864" rIns="82296" bIns="36576">
            <a:spAutoFit/>
          </a:bodyPr>
          <a:lstStyle/>
          <a:p>
            <a:pPr algn="l">
              <a:spcAft>
                <a:spcPts val="1000"/>
              </a:spcAft>
            </a:pPr>
            <a:r>
              <a:rPr sz="1000" b="1">
                <a:solidFill>
                  <a:srgbClr val="D1D7D6"/>
                </a:solidFill>
                <a:latin typeface="Aptos"/>
              </a:rPr>
              <a:t>GREEN PACE ALREADY COLLECTS OPERATING-SYSTEM, FIREWALL AND ANTI-MALWARE LOGS; EXPAND APPLICATION-LEVEL COVERAGE</a:t>
            </a: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82296" tIns="54864" rIns="82296" bIns="36576" anchor="ctr" anchorCtr="0">
            <a:noAutofit/>
          </a:bodyPr>
          <a:lstStyle/>
          <a:p>
            <a:pPr marL="0" lvl="0" indent="0" algn="l" rtl="0">
              <a:lnSpc>
                <a:spcPct val="90000"/>
              </a:lnSpc>
              <a:spcBef>
                <a:spcPts val="0"/>
              </a:spcBef>
              <a:spcAft>
                <a:spcPts val="1000"/>
              </a:spcAft>
              <a:buSzPts val="1800"/>
              <a:buNone/>
            </a:pPr>
            <a:r>
              <a:rPr sz="3000" b="0">
                <a:solidFill>
                  <a:srgbClr val="F8FBF7"/>
                </a:solidFill>
                <a:latin typeface="Aptos"/>
              </a:rPr>
              <a:t>UNIT TESTING  |  CONTAINER BOUNDS</a:t>
            </a:r>
            <a:endParaRPr/>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198" name="Rounded Rectangle 197"/>
          <p:cNvSpPr/>
          <p:nvPr/>
        </p:nvSpPr>
        <p:spPr>
          <a:xfrm>
            <a:off x="704088" y="2286000"/>
            <a:ext cx="10469880" cy="3355848"/>
          </a:xfrm>
          <a:prstGeom prst="roundRect">
            <a:avLst/>
          </a:prstGeom>
          <a:solidFill>
            <a:srgbClr val="0F1F19"/>
          </a:solidFill>
          <a:ln w="12700">
            <a:solidFill>
              <a:srgbClr val="26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 name="TextBox 198"/>
          <p:cNvSpPr txBox="1"/>
          <p:nvPr/>
        </p:nvSpPr>
        <p:spPr>
          <a:xfrm>
            <a:off x="950976" y="2578608"/>
            <a:ext cx="9601200" cy="237744"/>
          </a:xfrm>
          <a:prstGeom prst="rect">
            <a:avLst/>
          </a:prstGeom>
          <a:noFill/>
        </p:spPr>
        <p:txBody>
          <a:bodyPr wrap="square" lIns="82296" tIns="54864" rIns="82296" bIns="36576">
            <a:spAutoFit/>
          </a:bodyPr>
          <a:lstStyle/>
          <a:p>
            <a:pPr algn="l">
              <a:spcAft>
                <a:spcPts val="1000"/>
              </a:spcAft>
            </a:pPr>
            <a:r>
              <a:rPr sz="1600" b="1">
                <a:solidFill>
                  <a:srgbClr val="98E3AF"/>
                </a:solidFill>
                <a:latin typeface="Aptos"/>
              </a:rPr>
              <a:t>SECURITY STANDARD STD-008-CPP  •  CTR50-CPP</a:t>
            </a:r>
          </a:p>
        </p:txBody>
      </p:sp>
      <p:sp>
        <p:nvSpPr>
          <p:cNvPr id="200" name="TextBox 199"/>
          <p:cNvSpPr txBox="1"/>
          <p:nvPr/>
        </p:nvSpPr>
        <p:spPr>
          <a:xfrm>
            <a:off x="969264" y="3127248"/>
            <a:ext cx="9646920" cy="603504"/>
          </a:xfrm>
          <a:prstGeom prst="rect">
            <a:avLst/>
          </a:prstGeom>
          <a:noFill/>
        </p:spPr>
        <p:txBody>
          <a:bodyPr wrap="square" lIns="82296" tIns="54864" rIns="82296" bIns="36576">
            <a:spAutoFit/>
          </a:bodyPr>
          <a:lstStyle/>
          <a:p>
            <a:pPr algn="l">
              <a:spcAft>
                <a:spcPts val="1000"/>
              </a:spcAft>
            </a:pPr>
            <a:r>
              <a:rPr sz="2100" b="0">
                <a:solidFill>
                  <a:srgbClr val="F8FBF7"/>
                </a:solidFill>
                <a:latin typeface="Aptos"/>
              </a:rPr>
              <a:t>The vulnerability: unchecked container indexes can trigger undefined behavior or a crash.</a:t>
            </a:r>
          </a:p>
        </p:txBody>
      </p:sp>
      <p:sp>
        <p:nvSpPr>
          <p:cNvPr id="201" name="TextBox 200"/>
          <p:cNvSpPr txBox="1"/>
          <p:nvPr/>
        </p:nvSpPr>
        <p:spPr>
          <a:xfrm>
            <a:off x="969264" y="3995928"/>
            <a:ext cx="9729216" cy="1371600"/>
          </a:xfrm>
          <a:prstGeom prst="rect">
            <a:avLst/>
          </a:prstGeom>
          <a:noFill/>
        </p:spPr>
        <p:txBody>
          <a:bodyPr wrap="square" lIns="82296" tIns="54864" rIns="82296" bIns="36576">
            <a:spAutoFit/>
          </a:bodyPr>
          <a:lstStyle/>
          <a:p>
            <a:pPr algn="l">
              <a:spcAft>
                <a:spcPts val="900"/>
              </a:spcAft>
              <a:defRPr sz="1800">
                <a:solidFill>
                  <a:srgbClr val="E8F1EE"/>
                </a:solidFill>
              </a:defRPr>
            </a:pPr>
            <a:r>
              <a:t>Approach: a bounds-checked C++ function + Microsoft Visual Studio Native Unit Tests.</a:t>
            </a:r>
          </a:p>
          <a:p>
            <a:pPr>
              <a:spcAft>
                <a:spcPts val="900"/>
              </a:spcAft>
              <a:defRPr sz="1800">
                <a:solidFill>
                  <a:srgbClr val="E8F1EE"/>
                </a:solidFill>
              </a:defRPr>
            </a:pPr>
            <a:r>
              <a:t>Six assertions: three valid inputs and three rejected invalid inputs.</a:t>
            </a:r>
          </a:p>
          <a:p>
            <a:pPr>
              <a:spcAft>
                <a:spcPts val="900"/>
              </a:spcAft>
              <a:defRPr sz="1800">
                <a:solidFill>
                  <a:srgbClr val="E8F1EE"/>
                </a:solidFill>
              </a:defRPr>
            </a:pPr>
            <a:r>
              <a:t>Observed October 18, 2026: 6 passed, 0 failed, 0 skipped.</a:t>
            </a:r>
          </a:p>
          <a:p>
            <a:pPr>
              <a:spcAft>
                <a:spcPts val="900"/>
              </a:spcAft>
              <a:defRPr sz="1800">
                <a:solidFill>
                  <a:srgbClr val="E8F1EE"/>
                </a:solidFill>
              </a:defRPr>
            </a:pPr>
            <a:r>
              <a:t>Limitation: these tests validate this example, not the entire Green Pace codebase.</a:t>
            </a: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3232" y="777240"/>
            <a:ext cx="10789920" cy="777240"/>
          </a:xfrm>
          <a:prstGeom prst="rect">
            <a:avLst/>
          </a:prstGeom>
          <a:noFill/>
        </p:spPr>
        <p:txBody>
          <a:bodyPr wrap="square" lIns="82296" tIns="54864" rIns="82296" bIns="36576">
            <a:spAutoFit/>
          </a:bodyPr>
          <a:lstStyle/>
          <a:p>
            <a:pPr algn="l">
              <a:spcAft>
                <a:spcPts val="1000"/>
              </a:spcAft>
            </a:pPr>
            <a:r>
              <a:rPr sz="2800" b="0">
                <a:solidFill>
                  <a:srgbClr val="F8FBF7"/>
                </a:solidFill>
                <a:latin typeface="Aptos"/>
              </a:rPr>
              <a:t>UNIT TEST 1  |  Can the first element be read safely?</a:t>
            </a:r>
          </a:p>
        </p:txBody>
      </p:sp>
      <p:sp>
        <p:nvSpPr>
          <p:cNvPr id="3" name="Rectangle 2"/>
          <p:cNvSpPr/>
          <p:nvPr/>
        </p:nvSpPr>
        <p:spPr>
          <a:xfrm>
            <a:off x="731520" y="1655064"/>
            <a:ext cx="10607040" cy="36576"/>
          </a:xfrm>
          <a:prstGeom prst="rect">
            <a:avLst/>
          </a:prstGeom>
          <a:solidFill>
            <a:srgbClr val="7BB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13232" y="2002536"/>
            <a:ext cx="4864608" cy="3648456"/>
          </a:xfrm>
          <a:prstGeom prst="roundRect">
            <a:avLst/>
          </a:prstGeom>
          <a:solidFill>
            <a:srgbClr val="0F1F19"/>
          </a:solidFill>
          <a:ln w="12700">
            <a:solidFill>
              <a:srgbClr val="26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05256" y="2249424"/>
            <a:ext cx="4434840" cy="237744"/>
          </a:xfrm>
          <a:prstGeom prst="rect">
            <a:avLst/>
          </a:prstGeom>
          <a:noFill/>
        </p:spPr>
        <p:txBody>
          <a:bodyPr wrap="square" lIns="82296" tIns="54864" rIns="82296" bIns="36576">
            <a:spAutoFit/>
          </a:bodyPr>
          <a:lstStyle/>
          <a:p>
            <a:pPr algn="l">
              <a:spcAft>
                <a:spcPts val="1000"/>
              </a:spcAft>
            </a:pPr>
            <a:r>
              <a:rPr sz="1300" b="1">
                <a:solidFill>
                  <a:srgbClr val="7BBC69"/>
                </a:solidFill>
                <a:latin typeface="Aptos"/>
              </a:rPr>
              <a:t>POSITIVE TEST  •  VALIDFIRSTINDEX</a:t>
            </a:r>
          </a:p>
        </p:txBody>
      </p:sp>
      <p:sp>
        <p:nvSpPr>
          <p:cNvPr id="6" name="TextBox 5"/>
          <p:cNvSpPr txBox="1"/>
          <p:nvPr/>
        </p:nvSpPr>
        <p:spPr>
          <a:xfrm>
            <a:off x="905256" y="2916936"/>
            <a:ext cx="4343400" cy="237744"/>
          </a:xfrm>
          <a:prstGeom prst="rect">
            <a:avLst/>
          </a:prstGeom>
          <a:noFill/>
        </p:spPr>
        <p:txBody>
          <a:bodyPr wrap="square" lIns="82296" tIns="54864" rIns="82296" bIns="36576">
            <a:spAutoFit/>
          </a:bodyPr>
          <a:lstStyle/>
          <a:p>
            <a:pPr algn="l">
              <a:spcAft>
                <a:spcPts val="1000"/>
              </a:spcAft>
            </a:pPr>
            <a:r>
              <a:rPr sz="1200" b="1">
                <a:solidFill>
                  <a:srgbClr val="D1D7D6"/>
                </a:solidFill>
                <a:latin typeface="Aptos"/>
              </a:rPr>
              <a:t>INPUT</a:t>
            </a:r>
          </a:p>
        </p:txBody>
      </p:sp>
      <p:sp>
        <p:nvSpPr>
          <p:cNvPr id="7" name="TextBox 6"/>
          <p:cNvSpPr txBox="1"/>
          <p:nvPr/>
        </p:nvSpPr>
        <p:spPr>
          <a:xfrm>
            <a:off x="905256" y="3246120"/>
            <a:ext cx="4389120" cy="557784"/>
          </a:xfrm>
          <a:prstGeom prst="rect">
            <a:avLst/>
          </a:prstGeom>
          <a:noFill/>
        </p:spPr>
        <p:txBody>
          <a:bodyPr wrap="square" lIns="82296" tIns="54864" rIns="82296" bIns="36576">
            <a:spAutoFit/>
          </a:bodyPr>
          <a:lstStyle/>
          <a:p>
            <a:pPr algn="l">
              <a:spcAft>
                <a:spcPts val="1000"/>
              </a:spcAft>
            </a:pPr>
            <a:r>
              <a:rPr sz="2000" b="0">
                <a:solidFill>
                  <a:srgbClr val="F8FBF7"/>
                </a:solidFill>
                <a:latin typeface="Aptos"/>
              </a:rPr>
              <a:t>{10, 20, 30}  |  index 0</a:t>
            </a:r>
          </a:p>
        </p:txBody>
      </p:sp>
      <p:sp>
        <p:nvSpPr>
          <p:cNvPr id="8" name="TextBox 7"/>
          <p:cNvSpPr txBox="1"/>
          <p:nvPr/>
        </p:nvSpPr>
        <p:spPr>
          <a:xfrm>
            <a:off x="905256" y="4069080"/>
            <a:ext cx="4343400" cy="237744"/>
          </a:xfrm>
          <a:prstGeom prst="rect">
            <a:avLst/>
          </a:prstGeom>
          <a:noFill/>
        </p:spPr>
        <p:txBody>
          <a:bodyPr wrap="square" lIns="82296" tIns="54864" rIns="82296" bIns="36576">
            <a:spAutoFit/>
          </a:bodyPr>
          <a:lstStyle/>
          <a:p>
            <a:pPr algn="l">
              <a:spcAft>
                <a:spcPts val="1000"/>
              </a:spcAft>
            </a:pPr>
            <a:r>
              <a:rPr sz="1200" b="1">
                <a:solidFill>
                  <a:srgbClr val="D1D7D6"/>
                </a:solidFill>
                <a:latin typeface="Aptos"/>
              </a:rPr>
              <a:t>EXPECTED RESULT</a:t>
            </a:r>
          </a:p>
        </p:txBody>
      </p:sp>
      <p:sp>
        <p:nvSpPr>
          <p:cNvPr id="9" name="TextBox 8"/>
          <p:cNvSpPr txBox="1"/>
          <p:nvPr/>
        </p:nvSpPr>
        <p:spPr>
          <a:xfrm>
            <a:off x="905256" y="4398264"/>
            <a:ext cx="4389120" cy="594360"/>
          </a:xfrm>
          <a:prstGeom prst="rect">
            <a:avLst/>
          </a:prstGeom>
          <a:noFill/>
        </p:spPr>
        <p:txBody>
          <a:bodyPr wrap="square" lIns="82296" tIns="54864" rIns="82296" bIns="36576">
            <a:spAutoFit/>
          </a:bodyPr>
          <a:lstStyle/>
          <a:p>
            <a:pPr algn="l">
              <a:spcAft>
                <a:spcPts val="1000"/>
              </a:spcAft>
            </a:pPr>
            <a:r>
              <a:rPr sz="1800" b="0">
                <a:solidFill>
                  <a:srgbClr val="98E3AF"/>
                </a:solidFill>
                <a:latin typeface="Aptos"/>
              </a:rPr>
              <a:t>Returns 10 without exception</a:t>
            </a:r>
          </a:p>
        </p:txBody>
      </p:sp>
      <p:sp>
        <p:nvSpPr>
          <p:cNvPr id="10" name="Rounded Rectangle 9"/>
          <p:cNvSpPr/>
          <p:nvPr/>
        </p:nvSpPr>
        <p:spPr>
          <a:xfrm>
            <a:off x="5824728" y="2002536"/>
            <a:ext cx="5285232" cy="3648456"/>
          </a:xfrm>
          <a:prstGeom prst="roundRect">
            <a:avLst/>
          </a:prstGeom>
          <a:solidFill>
            <a:srgbClr val="21231F"/>
          </a:solidFill>
          <a:ln w="12700">
            <a:solidFill>
              <a:srgbClr val="696F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62472" y="2304288"/>
            <a:ext cx="4745736" cy="237744"/>
          </a:xfrm>
          <a:prstGeom prst="rect">
            <a:avLst/>
          </a:prstGeom>
          <a:noFill/>
        </p:spPr>
        <p:txBody>
          <a:bodyPr wrap="square" lIns="82296" tIns="54864" rIns="82296" bIns="36576">
            <a:spAutoFit/>
          </a:bodyPr>
          <a:lstStyle/>
          <a:p>
            <a:pPr algn="l">
              <a:spcAft>
                <a:spcPts val="1000"/>
              </a:spcAft>
            </a:pPr>
            <a:r>
              <a:rPr sz="1300" b="1">
                <a:solidFill>
                  <a:srgbClr val="FFD368"/>
                </a:solidFill>
                <a:latin typeface="Aptos"/>
              </a:rPr>
              <a:t>ACTUAL TEST EXPLORER EVIDENCE</a:t>
            </a:r>
          </a:p>
        </p:txBody>
      </p:sp>
      <p:sp>
        <p:nvSpPr>
          <p:cNvPr id="12" name="TextBox 11"/>
          <p:cNvSpPr txBox="1"/>
          <p:nvPr/>
        </p:nvSpPr>
        <p:spPr>
          <a:xfrm>
            <a:off x="6135624" y="3264408"/>
            <a:ext cx="4626864" cy="1517904"/>
          </a:xfrm>
          <a:prstGeom prst="rect">
            <a:avLst/>
          </a:prstGeom>
          <a:noFill/>
        </p:spPr>
        <p:txBody>
          <a:bodyPr wrap="square" lIns="82296" tIns="54864" rIns="82296" bIns="36576">
            <a:spAutoFit/>
          </a:bodyPr>
          <a:lstStyle/>
          <a:p>
            <a:pPr algn="l">
              <a:spcAft>
                <a:spcPts val="1000"/>
              </a:spcAft>
            </a:pPr>
            <a:endParaRPr/>
          </a:p>
        </p:txBody>
      </p:sp>
      <p:sp>
        <p:nvSpPr>
          <p:cNvPr id="13" name="TextBox 12"/>
          <p:cNvSpPr txBox="1"/>
          <p:nvPr/>
        </p:nvSpPr>
        <p:spPr>
          <a:xfrm>
            <a:off x="786384" y="6062472"/>
            <a:ext cx="10789920" cy="237744"/>
          </a:xfrm>
          <a:prstGeom prst="rect">
            <a:avLst/>
          </a:prstGeom>
          <a:noFill/>
        </p:spPr>
        <p:txBody>
          <a:bodyPr wrap="square" lIns="82296" tIns="54864" rIns="82296" bIns="36576">
            <a:spAutoFit/>
          </a:bodyPr>
          <a:lstStyle/>
          <a:p>
            <a:pPr algn="l">
              <a:spcAft>
                <a:spcPts val="1000"/>
              </a:spcAft>
            </a:pPr>
            <a:r>
              <a:rPr sz="1200" b="1">
                <a:solidFill>
                  <a:srgbClr val="51CE95"/>
                </a:solidFill>
                <a:latin typeface="Aptos"/>
              </a:rPr>
              <a:t>OBSERVED: PASSED  |  Test Explorer: 6 PASSED, 0 FAILED</a:t>
            </a:r>
          </a:p>
        </p:txBody>
      </p:sp>
      <p:pic>
        <p:nvPicPr>
          <p:cNvPr id="14" name="Picture 13" descr="image.png"/>
          <p:cNvPicPr>
            <a:picLocks noChangeAspect="1"/>
          </p:cNvPicPr>
          <p:nvPr/>
        </p:nvPicPr>
        <p:blipFill>
          <a:blip r:embed="rId2"/>
          <a:stretch>
            <a:fillRect/>
          </a:stretch>
        </p:blipFill>
        <p:spPr>
          <a:xfrm>
            <a:off x="11082528" y="5440680"/>
            <a:ext cx="886968" cy="1152144"/>
          </a:xfrm>
          <a:prstGeom prst="rect">
            <a:avLst/>
          </a:prstGeom>
        </p:spPr>
      </p:pic>
      <p:pic>
        <p:nvPicPr>
          <p:cNvPr id="15" name="Picture 14" descr="evidence_ValidFirstIndex.png"/>
          <p:cNvPicPr>
            <a:picLocks noChangeAspect="1"/>
          </p:cNvPicPr>
          <p:nvPr/>
        </p:nvPicPr>
        <p:blipFill>
          <a:blip r:embed="rId3"/>
          <a:stretch>
            <a:fillRect/>
          </a:stretch>
        </p:blipFill>
        <p:spPr>
          <a:xfrm>
            <a:off x="6053328" y="2779776"/>
            <a:ext cx="4727448" cy="2368296"/>
          </a:xfrm>
          <a:prstGeom prst="rect">
            <a:avLst/>
          </a:prstGeom>
        </p:spPr>
      </p:pic>
      <p:sp>
        <p:nvSpPr>
          <p:cNvPr id="16" name="TextBox 15"/>
          <p:cNvSpPr txBox="1"/>
          <p:nvPr/>
        </p:nvSpPr>
        <p:spPr>
          <a:xfrm>
            <a:off x="6099048" y="5276088"/>
            <a:ext cx="4608576" cy="201168"/>
          </a:xfrm>
          <a:prstGeom prst="rect">
            <a:avLst/>
          </a:prstGeom>
          <a:noFill/>
        </p:spPr>
        <p:txBody>
          <a:bodyPr wrap="none">
            <a:spAutoFit/>
          </a:bodyPr>
          <a:lstStyle/>
          <a:p>
            <a:pPr>
              <a:defRPr sz="900">
                <a:solidFill>
                  <a:srgbClr val="AFBFC3"/>
                </a:solidFill>
              </a:defRPr>
            </a:pPr>
            <a:r>
              <a:t>ACTUAL TEST EXPLORER RUN  •  ValidFirstIndex HIGHLIGHTED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3232" y="777240"/>
            <a:ext cx="10789920" cy="777240"/>
          </a:xfrm>
          <a:prstGeom prst="rect">
            <a:avLst/>
          </a:prstGeom>
          <a:noFill/>
        </p:spPr>
        <p:txBody>
          <a:bodyPr wrap="square" lIns="82296" tIns="54864" rIns="82296" bIns="36576">
            <a:spAutoFit/>
          </a:bodyPr>
          <a:lstStyle/>
          <a:p>
            <a:pPr algn="l">
              <a:spcAft>
                <a:spcPts val="1000"/>
              </a:spcAft>
            </a:pPr>
            <a:r>
              <a:rPr sz="2800" b="0">
                <a:solidFill>
                  <a:srgbClr val="F8FBF7"/>
                </a:solidFill>
                <a:latin typeface="Aptos"/>
              </a:rPr>
              <a:t>UNIT TEST 2  |  Does the final valid index work?</a:t>
            </a:r>
          </a:p>
        </p:txBody>
      </p:sp>
      <p:sp>
        <p:nvSpPr>
          <p:cNvPr id="3" name="Rectangle 2"/>
          <p:cNvSpPr/>
          <p:nvPr/>
        </p:nvSpPr>
        <p:spPr>
          <a:xfrm>
            <a:off x="731520" y="1655064"/>
            <a:ext cx="10607040" cy="36576"/>
          </a:xfrm>
          <a:prstGeom prst="rect">
            <a:avLst/>
          </a:prstGeom>
          <a:solidFill>
            <a:srgbClr val="7BB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13232" y="2002536"/>
            <a:ext cx="4864608" cy="3648456"/>
          </a:xfrm>
          <a:prstGeom prst="roundRect">
            <a:avLst/>
          </a:prstGeom>
          <a:solidFill>
            <a:srgbClr val="0F1F19"/>
          </a:solidFill>
          <a:ln w="12700">
            <a:solidFill>
              <a:srgbClr val="26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05256" y="2249424"/>
            <a:ext cx="4434840" cy="237744"/>
          </a:xfrm>
          <a:prstGeom prst="rect">
            <a:avLst/>
          </a:prstGeom>
          <a:noFill/>
        </p:spPr>
        <p:txBody>
          <a:bodyPr wrap="square" lIns="82296" tIns="54864" rIns="82296" bIns="36576">
            <a:spAutoFit/>
          </a:bodyPr>
          <a:lstStyle/>
          <a:p>
            <a:pPr algn="l">
              <a:spcAft>
                <a:spcPts val="1000"/>
              </a:spcAft>
            </a:pPr>
            <a:r>
              <a:rPr sz="1300" b="1">
                <a:solidFill>
                  <a:srgbClr val="7BBC69"/>
                </a:solidFill>
                <a:latin typeface="Aptos"/>
              </a:rPr>
              <a:t>POSITIVE TEST  •  VALIDLASTINDEX</a:t>
            </a:r>
          </a:p>
        </p:txBody>
      </p:sp>
      <p:sp>
        <p:nvSpPr>
          <p:cNvPr id="6" name="TextBox 5"/>
          <p:cNvSpPr txBox="1"/>
          <p:nvPr/>
        </p:nvSpPr>
        <p:spPr>
          <a:xfrm>
            <a:off x="905256" y="2916936"/>
            <a:ext cx="4343400" cy="237744"/>
          </a:xfrm>
          <a:prstGeom prst="rect">
            <a:avLst/>
          </a:prstGeom>
          <a:noFill/>
        </p:spPr>
        <p:txBody>
          <a:bodyPr wrap="square" lIns="82296" tIns="54864" rIns="82296" bIns="36576">
            <a:spAutoFit/>
          </a:bodyPr>
          <a:lstStyle/>
          <a:p>
            <a:pPr algn="l">
              <a:spcAft>
                <a:spcPts val="1000"/>
              </a:spcAft>
            </a:pPr>
            <a:r>
              <a:rPr sz="1200" b="1">
                <a:solidFill>
                  <a:srgbClr val="D1D7D6"/>
                </a:solidFill>
                <a:latin typeface="Aptos"/>
              </a:rPr>
              <a:t>INPUT</a:t>
            </a:r>
          </a:p>
        </p:txBody>
      </p:sp>
      <p:sp>
        <p:nvSpPr>
          <p:cNvPr id="7" name="TextBox 6"/>
          <p:cNvSpPr txBox="1"/>
          <p:nvPr/>
        </p:nvSpPr>
        <p:spPr>
          <a:xfrm>
            <a:off x="905256" y="3246120"/>
            <a:ext cx="4389120" cy="557784"/>
          </a:xfrm>
          <a:prstGeom prst="rect">
            <a:avLst/>
          </a:prstGeom>
          <a:noFill/>
        </p:spPr>
        <p:txBody>
          <a:bodyPr wrap="square" lIns="82296" tIns="54864" rIns="82296" bIns="36576">
            <a:spAutoFit/>
          </a:bodyPr>
          <a:lstStyle/>
          <a:p>
            <a:pPr algn="l">
              <a:spcAft>
                <a:spcPts val="1000"/>
              </a:spcAft>
            </a:pPr>
            <a:r>
              <a:rPr sz="2000" b="0">
                <a:solidFill>
                  <a:srgbClr val="F8FBF7"/>
                </a:solidFill>
                <a:latin typeface="Aptos"/>
              </a:rPr>
              <a:t>{10, 20, 30}  |  index 2</a:t>
            </a:r>
          </a:p>
        </p:txBody>
      </p:sp>
      <p:sp>
        <p:nvSpPr>
          <p:cNvPr id="8" name="TextBox 7"/>
          <p:cNvSpPr txBox="1"/>
          <p:nvPr/>
        </p:nvSpPr>
        <p:spPr>
          <a:xfrm>
            <a:off x="905256" y="4069080"/>
            <a:ext cx="4343400" cy="237744"/>
          </a:xfrm>
          <a:prstGeom prst="rect">
            <a:avLst/>
          </a:prstGeom>
          <a:noFill/>
        </p:spPr>
        <p:txBody>
          <a:bodyPr wrap="square" lIns="82296" tIns="54864" rIns="82296" bIns="36576">
            <a:spAutoFit/>
          </a:bodyPr>
          <a:lstStyle/>
          <a:p>
            <a:pPr algn="l">
              <a:spcAft>
                <a:spcPts val="1000"/>
              </a:spcAft>
            </a:pPr>
            <a:r>
              <a:rPr sz="1200" b="1">
                <a:solidFill>
                  <a:srgbClr val="D1D7D6"/>
                </a:solidFill>
                <a:latin typeface="Aptos"/>
              </a:rPr>
              <a:t>EXPECTED RESULT</a:t>
            </a:r>
          </a:p>
        </p:txBody>
      </p:sp>
      <p:sp>
        <p:nvSpPr>
          <p:cNvPr id="9" name="TextBox 8"/>
          <p:cNvSpPr txBox="1"/>
          <p:nvPr/>
        </p:nvSpPr>
        <p:spPr>
          <a:xfrm>
            <a:off x="905256" y="4398264"/>
            <a:ext cx="4389120" cy="594360"/>
          </a:xfrm>
          <a:prstGeom prst="rect">
            <a:avLst/>
          </a:prstGeom>
          <a:noFill/>
        </p:spPr>
        <p:txBody>
          <a:bodyPr wrap="square" lIns="82296" tIns="54864" rIns="82296" bIns="36576">
            <a:spAutoFit/>
          </a:bodyPr>
          <a:lstStyle/>
          <a:p>
            <a:pPr algn="l">
              <a:spcAft>
                <a:spcPts val="1000"/>
              </a:spcAft>
            </a:pPr>
            <a:r>
              <a:rPr sz="1800" b="0">
                <a:solidFill>
                  <a:srgbClr val="98E3AF"/>
                </a:solidFill>
                <a:latin typeface="Aptos"/>
              </a:rPr>
              <a:t>Returns 30 without exception</a:t>
            </a:r>
          </a:p>
        </p:txBody>
      </p:sp>
      <p:sp>
        <p:nvSpPr>
          <p:cNvPr id="10" name="Rounded Rectangle 9"/>
          <p:cNvSpPr/>
          <p:nvPr/>
        </p:nvSpPr>
        <p:spPr>
          <a:xfrm>
            <a:off x="5824728" y="2002536"/>
            <a:ext cx="5285232" cy="3648456"/>
          </a:xfrm>
          <a:prstGeom prst="roundRect">
            <a:avLst/>
          </a:prstGeom>
          <a:solidFill>
            <a:srgbClr val="21231F"/>
          </a:solidFill>
          <a:ln w="12700">
            <a:solidFill>
              <a:srgbClr val="696F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62472" y="2304288"/>
            <a:ext cx="4745736" cy="237744"/>
          </a:xfrm>
          <a:prstGeom prst="rect">
            <a:avLst/>
          </a:prstGeom>
          <a:noFill/>
        </p:spPr>
        <p:txBody>
          <a:bodyPr wrap="square" lIns="82296" tIns="54864" rIns="82296" bIns="36576">
            <a:spAutoFit/>
          </a:bodyPr>
          <a:lstStyle/>
          <a:p>
            <a:pPr algn="l">
              <a:spcAft>
                <a:spcPts val="1000"/>
              </a:spcAft>
            </a:pPr>
            <a:r>
              <a:rPr sz="1300" b="1">
                <a:solidFill>
                  <a:srgbClr val="FFD368"/>
                </a:solidFill>
                <a:latin typeface="Aptos"/>
              </a:rPr>
              <a:t>ACTUAL TEST EXPLORER EVIDENCE</a:t>
            </a:r>
          </a:p>
        </p:txBody>
      </p:sp>
      <p:sp>
        <p:nvSpPr>
          <p:cNvPr id="12" name="TextBox 11"/>
          <p:cNvSpPr txBox="1"/>
          <p:nvPr/>
        </p:nvSpPr>
        <p:spPr>
          <a:xfrm>
            <a:off x="6135624" y="3264408"/>
            <a:ext cx="4626864" cy="1517904"/>
          </a:xfrm>
          <a:prstGeom prst="rect">
            <a:avLst/>
          </a:prstGeom>
          <a:noFill/>
        </p:spPr>
        <p:txBody>
          <a:bodyPr wrap="square" lIns="82296" tIns="54864" rIns="82296" bIns="36576">
            <a:spAutoFit/>
          </a:bodyPr>
          <a:lstStyle/>
          <a:p>
            <a:pPr algn="l">
              <a:spcAft>
                <a:spcPts val="1000"/>
              </a:spcAft>
            </a:pPr>
            <a:endParaRPr/>
          </a:p>
        </p:txBody>
      </p:sp>
      <p:sp>
        <p:nvSpPr>
          <p:cNvPr id="13" name="TextBox 12"/>
          <p:cNvSpPr txBox="1"/>
          <p:nvPr/>
        </p:nvSpPr>
        <p:spPr>
          <a:xfrm>
            <a:off x="786384" y="6062472"/>
            <a:ext cx="10789920" cy="237744"/>
          </a:xfrm>
          <a:prstGeom prst="rect">
            <a:avLst/>
          </a:prstGeom>
          <a:noFill/>
        </p:spPr>
        <p:txBody>
          <a:bodyPr wrap="square" lIns="82296" tIns="54864" rIns="82296" bIns="36576">
            <a:spAutoFit/>
          </a:bodyPr>
          <a:lstStyle/>
          <a:p>
            <a:pPr algn="l">
              <a:spcAft>
                <a:spcPts val="1000"/>
              </a:spcAft>
            </a:pPr>
            <a:r>
              <a:rPr sz="1200" b="1">
                <a:solidFill>
                  <a:srgbClr val="51CE95"/>
                </a:solidFill>
                <a:latin typeface="Aptos"/>
              </a:rPr>
              <a:t>OBSERVED: PASSED  |  Test Explorer: 6 PASSED, 0 FAILED</a:t>
            </a:r>
          </a:p>
        </p:txBody>
      </p:sp>
      <p:pic>
        <p:nvPicPr>
          <p:cNvPr id="14" name="Picture 13" descr="image.png"/>
          <p:cNvPicPr>
            <a:picLocks noChangeAspect="1"/>
          </p:cNvPicPr>
          <p:nvPr/>
        </p:nvPicPr>
        <p:blipFill>
          <a:blip r:embed="rId2"/>
          <a:stretch>
            <a:fillRect/>
          </a:stretch>
        </p:blipFill>
        <p:spPr>
          <a:xfrm>
            <a:off x="11082528" y="5440680"/>
            <a:ext cx="886968" cy="1152144"/>
          </a:xfrm>
          <a:prstGeom prst="rect">
            <a:avLst/>
          </a:prstGeom>
        </p:spPr>
      </p:pic>
      <p:pic>
        <p:nvPicPr>
          <p:cNvPr id="15" name="Picture 14" descr="evidence_ValidLastIndex.png"/>
          <p:cNvPicPr>
            <a:picLocks noChangeAspect="1"/>
          </p:cNvPicPr>
          <p:nvPr/>
        </p:nvPicPr>
        <p:blipFill>
          <a:blip r:embed="rId3"/>
          <a:stretch>
            <a:fillRect/>
          </a:stretch>
        </p:blipFill>
        <p:spPr>
          <a:xfrm>
            <a:off x="6053328" y="2779776"/>
            <a:ext cx="4727448" cy="2368296"/>
          </a:xfrm>
          <a:prstGeom prst="rect">
            <a:avLst/>
          </a:prstGeom>
        </p:spPr>
      </p:pic>
      <p:sp>
        <p:nvSpPr>
          <p:cNvPr id="16" name="TextBox 15"/>
          <p:cNvSpPr txBox="1"/>
          <p:nvPr/>
        </p:nvSpPr>
        <p:spPr>
          <a:xfrm>
            <a:off x="6099048" y="5276088"/>
            <a:ext cx="4608576" cy="201168"/>
          </a:xfrm>
          <a:prstGeom prst="rect">
            <a:avLst/>
          </a:prstGeom>
          <a:noFill/>
        </p:spPr>
        <p:txBody>
          <a:bodyPr wrap="none">
            <a:spAutoFit/>
          </a:bodyPr>
          <a:lstStyle/>
          <a:p>
            <a:pPr>
              <a:defRPr sz="900">
                <a:solidFill>
                  <a:srgbClr val="AFBFC3"/>
                </a:solidFill>
              </a:defRPr>
            </a:pPr>
            <a:r>
              <a:t>ACTUAL TEST EXPLORER RUN  •  ValidLastIndex HIGHLIGHTED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3232" y="777240"/>
            <a:ext cx="10789920" cy="777240"/>
          </a:xfrm>
          <a:prstGeom prst="rect">
            <a:avLst/>
          </a:prstGeom>
          <a:noFill/>
        </p:spPr>
        <p:txBody>
          <a:bodyPr wrap="square" lIns="82296" tIns="54864" rIns="82296" bIns="36576">
            <a:spAutoFit/>
          </a:bodyPr>
          <a:lstStyle/>
          <a:p>
            <a:pPr algn="l">
              <a:spcAft>
                <a:spcPts val="1000"/>
              </a:spcAft>
            </a:pPr>
            <a:r>
              <a:rPr sz="2800" b="0">
                <a:solidFill>
                  <a:srgbClr val="F8FBF7"/>
                </a:solidFill>
                <a:latin typeface="Aptos"/>
              </a:rPr>
              <a:t>UNIT TEST 3  |  Are middle values returned correctly?</a:t>
            </a:r>
          </a:p>
        </p:txBody>
      </p:sp>
      <p:sp>
        <p:nvSpPr>
          <p:cNvPr id="3" name="Rectangle 2"/>
          <p:cNvSpPr/>
          <p:nvPr/>
        </p:nvSpPr>
        <p:spPr>
          <a:xfrm>
            <a:off x="731520" y="1655064"/>
            <a:ext cx="10607040" cy="36576"/>
          </a:xfrm>
          <a:prstGeom prst="rect">
            <a:avLst/>
          </a:prstGeom>
          <a:solidFill>
            <a:srgbClr val="7BB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13232" y="2002536"/>
            <a:ext cx="4864608" cy="3648456"/>
          </a:xfrm>
          <a:prstGeom prst="roundRect">
            <a:avLst/>
          </a:prstGeom>
          <a:solidFill>
            <a:srgbClr val="0F1F19"/>
          </a:solidFill>
          <a:ln w="12700">
            <a:solidFill>
              <a:srgbClr val="26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05256" y="2249424"/>
            <a:ext cx="4434840" cy="237744"/>
          </a:xfrm>
          <a:prstGeom prst="rect">
            <a:avLst/>
          </a:prstGeom>
          <a:noFill/>
        </p:spPr>
        <p:txBody>
          <a:bodyPr wrap="square" lIns="82296" tIns="54864" rIns="82296" bIns="36576">
            <a:spAutoFit/>
          </a:bodyPr>
          <a:lstStyle/>
          <a:p>
            <a:pPr algn="l">
              <a:spcAft>
                <a:spcPts val="1000"/>
              </a:spcAft>
            </a:pPr>
            <a:r>
              <a:rPr sz="1300" b="1">
                <a:solidFill>
                  <a:srgbClr val="7BBC69"/>
                </a:solidFill>
                <a:latin typeface="Aptos"/>
              </a:rPr>
              <a:t>POSITIVE TEST  •  VALIDMIDDLEINDEX</a:t>
            </a:r>
          </a:p>
        </p:txBody>
      </p:sp>
      <p:sp>
        <p:nvSpPr>
          <p:cNvPr id="6" name="TextBox 5"/>
          <p:cNvSpPr txBox="1"/>
          <p:nvPr/>
        </p:nvSpPr>
        <p:spPr>
          <a:xfrm>
            <a:off x="905256" y="2916936"/>
            <a:ext cx="4343400" cy="237744"/>
          </a:xfrm>
          <a:prstGeom prst="rect">
            <a:avLst/>
          </a:prstGeom>
          <a:noFill/>
        </p:spPr>
        <p:txBody>
          <a:bodyPr wrap="square" lIns="82296" tIns="54864" rIns="82296" bIns="36576">
            <a:spAutoFit/>
          </a:bodyPr>
          <a:lstStyle/>
          <a:p>
            <a:pPr algn="l">
              <a:spcAft>
                <a:spcPts val="1000"/>
              </a:spcAft>
            </a:pPr>
            <a:r>
              <a:rPr sz="1200" b="1">
                <a:solidFill>
                  <a:srgbClr val="D1D7D6"/>
                </a:solidFill>
                <a:latin typeface="Aptos"/>
              </a:rPr>
              <a:t>INPUT</a:t>
            </a:r>
          </a:p>
        </p:txBody>
      </p:sp>
      <p:sp>
        <p:nvSpPr>
          <p:cNvPr id="7" name="TextBox 6"/>
          <p:cNvSpPr txBox="1"/>
          <p:nvPr/>
        </p:nvSpPr>
        <p:spPr>
          <a:xfrm>
            <a:off x="905256" y="3246120"/>
            <a:ext cx="4389120" cy="557784"/>
          </a:xfrm>
          <a:prstGeom prst="rect">
            <a:avLst/>
          </a:prstGeom>
          <a:noFill/>
        </p:spPr>
        <p:txBody>
          <a:bodyPr wrap="square" lIns="82296" tIns="54864" rIns="82296" bIns="36576">
            <a:spAutoFit/>
          </a:bodyPr>
          <a:lstStyle/>
          <a:p>
            <a:pPr algn="l">
              <a:spcAft>
                <a:spcPts val="1000"/>
              </a:spcAft>
            </a:pPr>
            <a:r>
              <a:rPr sz="2000" b="0">
                <a:solidFill>
                  <a:srgbClr val="F8FBF7"/>
                </a:solidFill>
                <a:latin typeface="Aptos"/>
              </a:rPr>
              <a:t>{10, 20, 30}  |  index 1</a:t>
            </a:r>
          </a:p>
        </p:txBody>
      </p:sp>
      <p:sp>
        <p:nvSpPr>
          <p:cNvPr id="8" name="TextBox 7"/>
          <p:cNvSpPr txBox="1"/>
          <p:nvPr/>
        </p:nvSpPr>
        <p:spPr>
          <a:xfrm>
            <a:off x="905256" y="4069080"/>
            <a:ext cx="4343400" cy="237744"/>
          </a:xfrm>
          <a:prstGeom prst="rect">
            <a:avLst/>
          </a:prstGeom>
          <a:noFill/>
        </p:spPr>
        <p:txBody>
          <a:bodyPr wrap="square" lIns="82296" tIns="54864" rIns="82296" bIns="36576">
            <a:spAutoFit/>
          </a:bodyPr>
          <a:lstStyle/>
          <a:p>
            <a:pPr algn="l">
              <a:spcAft>
                <a:spcPts val="1000"/>
              </a:spcAft>
            </a:pPr>
            <a:r>
              <a:rPr sz="1200" b="1">
                <a:solidFill>
                  <a:srgbClr val="D1D7D6"/>
                </a:solidFill>
                <a:latin typeface="Aptos"/>
              </a:rPr>
              <a:t>EXPECTED RESULT</a:t>
            </a:r>
          </a:p>
        </p:txBody>
      </p:sp>
      <p:sp>
        <p:nvSpPr>
          <p:cNvPr id="9" name="TextBox 8"/>
          <p:cNvSpPr txBox="1"/>
          <p:nvPr/>
        </p:nvSpPr>
        <p:spPr>
          <a:xfrm>
            <a:off x="905256" y="4398264"/>
            <a:ext cx="4389120" cy="594360"/>
          </a:xfrm>
          <a:prstGeom prst="rect">
            <a:avLst/>
          </a:prstGeom>
          <a:noFill/>
        </p:spPr>
        <p:txBody>
          <a:bodyPr wrap="square" lIns="82296" tIns="54864" rIns="82296" bIns="36576">
            <a:spAutoFit/>
          </a:bodyPr>
          <a:lstStyle/>
          <a:p>
            <a:pPr algn="l">
              <a:spcAft>
                <a:spcPts val="1000"/>
              </a:spcAft>
            </a:pPr>
            <a:r>
              <a:rPr sz="1800" b="0">
                <a:solidFill>
                  <a:srgbClr val="98E3AF"/>
                </a:solidFill>
                <a:latin typeface="Aptos"/>
              </a:rPr>
              <a:t>Returns 20 without exception</a:t>
            </a:r>
          </a:p>
        </p:txBody>
      </p:sp>
      <p:sp>
        <p:nvSpPr>
          <p:cNvPr id="10" name="Rounded Rectangle 9"/>
          <p:cNvSpPr/>
          <p:nvPr/>
        </p:nvSpPr>
        <p:spPr>
          <a:xfrm>
            <a:off x="5824728" y="2002536"/>
            <a:ext cx="5285232" cy="3648456"/>
          </a:xfrm>
          <a:prstGeom prst="roundRect">
            <a:avLst/>
          </a:prstGeom>
          <a:solidFill>
            <a:srgbClr val="21231F"/>
          </a:solidFill>
          <a:ln w="12700">
            <a:solidFill>
              <a:srgbClr val="696F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62472" y="2304288"/>
            <a:ext cx="4745736" cy="237744"/>
          </a:xfrm>
          <a:prstGeom prst="rect">
            <a:avLst/>
          </a:prstGeom>
          <a:noFill/>
        </p:spPr>
        <p:txBody>
          <a:bodyPr wrap="square" lIns="82296" tIns="54864" rIns="82296" bIns="36576">
            <a:spAutoFit/>
          </a:bodyPr>
          <a:lstStyle/>
          <a:p>
            <a:pPr algn="l">
              <a:spcAft>
                <a:spcPts val="1000"/>
              </a:spcAft>
            </a:pPr>
            <a:r>
              <a:rPr sz="1300" b="1">
                <a:solidFill>
                  <a:srgbClr val="FFD368"/>
                </a:solidFill>
                <a:latin typeface="Aptos"/>
              </a:rPr>
              <a:t>ACTUAL TEST EXPLORER EVIDENCE</a:t>
            </a:r>
          </a:p>
        </p:txBody>
      </p:sp>
      <p:sp>
        <p:nvSpPr>
          <p:cNvPr id="12" name="TextBox 11"/>
          <p:cNvSpPr txBox="1"/>
          <p:nvPr/>
        </p:nvSpPr>
        <p:spPr>
          <a:xfrm>
            <a:off x="6135624" y="3264408"/>
            <a:ext cx="4626864" cy="1517904"/>
          </a:xfrm>
          <a:prstGeom prst="rect">
            <a:avLst/>
          </a:prstGeom>
          <a:noFill/>
        </p:spPr>
        <p:txBody>
          <a:bodyPr wrap="square" lIns="82296" tIns="54864" rIns="82296" bIns="36576">
            <a:spAutoFit/>
          </a:bodyPr>
          <a:lstStyle/>
          <a:p>
            <a:pPr algn="l">
              <a:spcAft>
                <a:spcPts val="1000"/>
              </a:spcAft>
            </a:pPr>
            <a:endParaRPr/>
          </a:p>
        </p:txBody>
      </p:sp>
      <p:sp>
        <p:nvSpPr>
          <p:cNvPr id="13" name="TextBox 12"/>
          <p:cNvSpPr txBox="1"/>
          <p:nvPr/>
        </p:nvSpPr>
        <p:spPr>
          <a:xfrm>
            <a:off x="786384" y="6062472"/>
            <a:ext cx="10789920" cy="237744"/>
          </a:xfrm>
          <a:prstGeom prst="rect">
            <a:avLst/>
          </a:prstGeom>
          <a:noFill/>
        </p:spPr>
        <p:txBody>
          <a:bodyPr wrap="square" lIns="82296" tIns="54864" rIns="82296" bIns="36576">
            <a:spAutoFit/>
          </a:bodyPr>
          <a:lstStyle/>
          <a:p>
            <a:pPr algn="l">
              <a:spcAft>
                <a:spcPts val="1000"/>
              </a:spcAft>
            </a:pPr>
            <a:r>
              <a:rPr sz="1200" b="1">
                <a:solidFill>
                  <a:srgbClr val="51CE95"/>
                </a:solidFill>
                <a:latin typeface="Aptos"/>
              </a:rPr>
              <a:t>OBSERVED: PASSED  |  Test Explorer: 6 PASSED, 0 FAILED</a:t>
            </a:r>
          </a:p>
        </p:txBody>
      </p:sp>
      <p:pic>
        <p:nvPicPr>
          <p:cNvPr id="14" name="Picture 13" descr="image.png"/>
          <p:cNvPicPr>
            <a:picLocks noChangeAspect="1"/>
          </p:cNvPicPr>
          <p:nvPr/>
        </p:nvPicPr>
        <p:blipFill>
          <a:blip r:embed="rId2"/>
          <a:stretch>
            <a:fillRect/>
          </a:stretch>
        </p:blipFill>
        <p:spPr>
          <a:xfrm>
            <a:off x="11082528" y="5440680"/>
            <a:ext cx="886968" cy="1152144"/>
          </a:xfrm>
          <a:prstGeom prst="rect">
            <a:avLst/>
          </a:prstGeom>
        </p:spPr>
      </p:pic>
      <p:pic>
        <p:nvPicPr>
          <p:cNvPr id="15" name="Picture 14" descr="evidence_ValidMiddleIndex.png"/>
          <p:cNvPicPr>
            <a:picLocks noChangeAspect="1"/>
          </p:cNvPicPr>
          <p:nvPr/>
        </p:nvPicPr>
        <p:blipFill>
          <a:blip r:embed="rId3"/>
          <a:stretch>
            <a:fillRect/>
          </a:stretch>
        </p:blipFill>
        <p:spPr>
          <a:xfrm>
            <a:off x="6053328" y="2779776"/>
            <a:ext cx="4727448" cy="2368296"/>
          </a:xfrm>
          <a:prstGeom prst="rect">
            <a:avLst/>
          </a:prstGeom>
        </p:spPr>
      </p:pic>
      <p:sp>
        <p:nvSpPr>
          <p:cNvPr id="16" name="TextBox 15"/>
          <p:cNvSpPr txBox="1"/>
          <p:nvPr/>
        </p:nvSpPr>
        <p:spPr>
          <a:xfrm>
            <a:off x="6099048" y="5276088"/>
            <a:ext cx="4608576" cy="201168"/>
          </a:xfrm>
          <a:prstGeom prst="rect">
            <a:avLst/>
          </a:prstGeom>
          <a:noFill/>
        </p:spPr>
        <p:txBody>
          <a:bodyPr wrap="none">
            <a:spAutoFit/>
          </a:bodyPr>
          <a:lstStyle/>
          <a:p>
            <a:pPr>
              <a:defRPr sz="900">
                <a:solidFill>
                  <a:srgbClr val="AFBFC3"/>
                </a:solidFill>
              </a:defRPr>
            </a:pPr>
            <a:r>
              <a:t>ACTUAL TEST EXPLORER RUN  •  ValidMiddleIndex HIGHLIGHTED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3232" y="777240"/>
            <a:ext cx="10789920" cy="777240"/>
          </a:xfrm>
          <a:prstGeom prst="rect">
            <a:avLst/>
          </a:prstGeom>
          <a:noFill/>
        </p:spPr>
        <p:txBody>
          <a:bodyPr wrap="square" lIns="82296" tIns="54864" rIns="82296" bIns="36576">
            <a:spAutoFit/>
          </a:bodyPr>
          <a:lstStyle/>
          <a:p>
            <a:pPr algn="l">
              <a:spcAft>
                <a:spcPts val="1000"/>
              </a:spcAft>
            </a:pPr>
            <a:r>
              <a:rPr sz="2800" b="0">
                <a:solidFill>
                  <a:srgbClr val="F8FBF7"/>
                </a:solidFill>
                <a:latin typeface="Aptos"/>
              </a:rPr>
              <a:t>UNIT TEST 4  |  Is a negative index rejected?</a:t>
            </a:r>
          </a:p>
        </p:txBody>
      </p:sp>
      <p:sp>
        <p:nvSpPr>
          <p:cNvPr id="3" name="Rectangle 2"/>
          <p:cNvSpPr/>
          <p:nvPr/>
        </p:nvSpPr>
        <p:spPr>
          <a:xfrm>
            <a:off x="731520" y="1655064"/>
            <a:ext cx="10607040" cy="36576"/>
          </a:xfrm>
          <a:prstGeom prst="rect">
            <a:avLst/>
          </a:prstGeom>
          <a:solidFill>
            <a:srgbClr val="7BB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13232" y="2002536"/>
            <a:ext cx="4864608" cy="3648456"/>
          </a:xfrm>
          <a:prstGeom prst="roundRect">
            <a:avLst/>
          </a:prstGeom>
          <a:solidFill>
            <a:srgbClr val="0F1F19"/>
          </a:solidFill>
          <a:ln w="12700">
            <a:solidFill>
              <a:srgbClr val="26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05256" y="2249424"/>
            <a:ext cx="4434840" cy="237744"/>
          </a:xfrm>
          <a:prstGeom prst="rect">
            <a:avLst/>
          </a:prstGeom>
          <a:noFill/>
        </p:spPr>
        <p:txBody>
          <a:bodyPr wrap="square" lIns="82296" tIns="54864" rIns="82296" bIns="36576">
            <a:spAutoFit/>
          </a:bodyPr>
          <a:lstStyle/>
          <a:p>
            <a:pPr algn="l">
              <a:spcAft>
                <a:spcPts val="1000"/>
              </a:spcAft>
            </a:pPr>
            <a:r>
              <a:rPr sz="1300" b="1">
                <a:solidFill>
                  <a:srgbClr val="FFD368"/>
                </a:solidFill>
                <a:latin typeface="Aptos"/>
              </a:rPr>
              <a:t>NEGATIVE TEST  •  REJECTNEGATIVEINDEX</a:t>
            </a:r>
          </a:p>
        </p:txBody>
      </p:sp>
      <p:sp>
        <p:nvSpPr>
          <p:cNvPr id="6" name="TextBox 5"/>
          <p:cNvSpPr txBox="1"/>
          <p:nvPr/>
        </p:nvSpPr>
        <p:spPr>
          <a:xfrm>
            <a:off x="905256" y="2916936"/>
            <a:ext cx="4343400" cy="237744"/>
          </a:xfrm>
          <a:prstGeom prst="rect">
            <a:avLst/>
          </a:prstGeom>
          <a:noFill/>
        </p:spPr>
        <p:txBody>
          <a:bodyPr wrap="square" lIns="82296" tIns="54864" rIns="82296" bIns="36576">
            <a:spAutoFit/>
          </a:bodyPr>
          <a:lstStyle/>
          <a:p>
            <a:pPr algn="l">
              <a:spcAft>
                <a:spcPts val="1000"/>
              </a:spcAft>
            </a:pPr>
            <a:r>
              <a:rPr sz="1200" b="1">
                <a:solidFill>
                  <a:srgbClr val="D1D7D6"/>
                </a:solidFill>
                <a:latin typeface="Aptos"/>
              </a:rPr>
              <a:t>INPUT</a:t>
            </a:r>
          </a:p>
        </p:txBody>
      </p:sp>
      <p:sp>
        <p:nvSpPr>
          <p:cNvPr id="7" name="TextBox 6"/>
          <p:cNvSpPr txBox="1"/>
          <p:nvPr/>
        </p:nvSpPr>
        <p:spPr>
          <a:xfrm>
            <a:off x="905256" y="3246120"/>
            <a:ext cx="4389120" cy="557784"/>
          </a:xfrm>
          <a:prstGeom prst="rect">
            <a:avLst/>
          </a:prstGeom>
          <a:noFill/>
        </p:spPr>
        <p:txBody>
          <a:bodyPr wrap="square" lIns="82296" tIns="54864" rIns="82296" bIns="36576">
            <a:spAutoFit/>
          </a:bodyPr>
          <a:lstStyle/>
          <a:p>
            <a:pPr algn="l">
              <a:spcAft>
                <a:spcPts val="1000"/>
              </a:spcAft>
            </a:pPr>
            <a:r>
              <a:rPr sz="2000" b="0">
                <a:solidFill>
                  <a:srgbClr val="F8FBF7"/>
                </a:solidFill>
                <a:latin typeface="Aptos"/>
              </a:rPr>
              <a:t>{10, 20, 30}  |  index -1</a:t>
            </a:r>
          </a:p>
        </p:txBody>
      </p:sp>
      <p:sp>
        <p:nvSpPr>
          <p:cNvPr id="8" name="TextBox 7"/>
          <p:cNvSpPr txBox="1"/>
          <p:nvPr/>
        </p:nvSpPr>
        <p:spPr>
          <a:xfrm>
            <a:off x="905256" y="4069080"/>
            <a:ext cx="4343400" cy="237744"/>
          </a:xfrm>
          <a:prstGeom prst="rect">
            <a:avLst/>
          </a:prstGeom>
          <a:noFill/>
        </p:spPr>
        <p:txBody>
          <a:bodyPr wrap="square" lIns="82296" tIns="54864" rIns="82296" bIns="36576">
            <a:spAutoFit/>
          </a:bodyPr>
          <a:lstStyle/>
          <a:p>
            <a:pPr algn="l">
              <a:spcAft>
                <a:spcPts val="1000"/>
              </a:spcAft>
            </a:pPr>
            <a:r>
              <a:rPr sz="1200" b="1">
                <a:solidFill>
                  <a:srgbClr val="D1D7D6"/>
                </a:solidFill>
                <a:latin typeface="Aptos"/>
              </a:rPr>
              <a:t>EXPECTED RESULT</a:t>
            </a:r>
          </a:p>
        </p:txBody>
      </p:sp>
      <p:sp>
        <p:nvSpPr>
          <p:cNvPr id="9" name="TextBox 8"/>
          <p:cNvSpPr txBox="1"/>
          <p:nvPr/>
        </p:nvSpPr>
        <p:spPr>
          <a:xfrm>
            <a:off x="905256" y="4398264"/>
            <a:ext cx="4389120" cy="594360"/>
          </a:xfrm>
          <a:prstGeom prst="rect">
            <a:avLst/>
          </a:prstGeom>
          <a:noFill/>
        </p:spPr>
        <p:txBody>
          <a:bodyPr wrap="square" lIns="82296" tIns="54864" rIns="82296" bIns="36576">
            <a:spAutoFit/>
          </a:bodyPr>
          <a:lstStyle/>
          <a:p>
            <a:pPr algn="l">
              <a:spcAft>
                <a:spcPts val="1000"/>
              </a:spcAft>
            </a:pPr>
            <a:r>
              <a:rPr sz="1800" b="0">
                <a:solidFill>
                  <a:srgbClr val="98E3AF"/>
                </a:solidFill>
                <a:latin typeface="Aptos"/>
              </a:rPr>
              <a:t>std::out_of_range thrown</a:t>
            </a:r>
          </a:p>
        </p:txBody>
      </p:sp>
      <p:sp>
        <p:nvSpPr>
          <p:cNvPr id="10" name="Rounded Rectangle 9"/>
          <p:cNvSpPr/>
          <p:nvPr/>
        </p:nvSpPr>
        <p:spPr>
          <a:xfrm>
            <a:off x="5824728" y="2002536"/>
            <a:ext cx="5285232" cy="3648456"/>
          </a:xfrm>
          <a:prstGeom prst="roundRect">
            <a:avLst/>
          </a:prstGeom>
          <a:solidFill>
            <a:srgbClr val="21231F"/>
          </a:solidFill>
          <a:ln w="12700">
            <a:solidFill>
              <a:srgbClr val="696F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62472" y="2304288"/>
            <a:ext cx="4745736" cy="237744"/>
          </a:xfrm>
          <a:prstGeom prst="rect">
            <a:avLst/>
          </a:prstGeom>
          <a:noFill/>
        </p:spPr>
        <p:txBody>
          <a:bodyPr wrap="square" lIns="82296" tIns="54864" rIns="82296" bIns="36576">
            <a:spAutoFit/>
          </a:bodyPr>
          <a:lstStyle/>
          <a:p>
            <a:pPr algn="l">
              <a:spcAft>
                <a:spcPts val="1000"/>
              </a:spcAft>
            </a:pPr>
            <a:r>
              <a:rPr sz="1300" b="1">
                <a:solidFill>
                  <a:srgbClr val="FFD368"/>
                </a:solidFill>
                <a:latin typeface="Aptos"/>
              </a:rPr>
              <a:t>ACTUAL TEST EXPLORER EVIDENCE</a:t>
            </a:r>
          </a:p>
        </p:txBody>
      </p:sp>
      <p:sp>
        <p:nvSpPr>
          <p:cNvPr id="12" name="TextBox 11"/>
          <p:cNvSpPr txBox="1"/>
          <p:nvPr/>
        </p:nvSpPr>
        <p:spPr>
          <a:xfrm>
            <a:off x="6135624" y="3264408"/>
            <a:ext cx="4626864" cy="1517904"/>
          </a:xfrm>
          <a:prstGeom prst="rect">
            <a:avLst/>
          </a:prstGeom>
          <a:noFill/>
        </p:spPr>
        <p:txBody>
          <a:bodyPr wrap="square" lIns="82296" tIns="54864" rIns="82296" bIns="36576">
            <a:spAutoFit/>
          </a:bodyPr>
          <a:lstStyle/>
          <a:p>
            <a:pPr algn="l">
              <a:spcAft>
                <a:spcPts val="1000"/>
              </a:spcAft>
            </a:pPr>
            <a:endParaRPr/>
          </a:p>
        </p:txBody>
      </p:sp>
      <p:sp>
        <p:nvSpPr>
          <p:cNvPr id="13" name="TextBox 12"/>
          <p:cNvSpPr txBox="1"/>
          <p:nvPr/>
        </p:nvSpPr>
        <p:spPr>
          <a:xfrm>
            <a:off x="786384" y="6062472"/>
            <a:ext cx="10789920" cy="237744"/>
          </a:xfrm>
          <a:prstGeom prst="rect">
            <a:avLst/>
          </a:prstGeom>
          <a:noFill/>
        </p:spPr>
        <p:txBody>
          <a:bodyPr wrap="square" lIns="82296" tIns="54864" rIns="82296" bIns="36576">
            <a:spAutoFit/>
          </a:bodyPr>
          <a:lstStyle/>
          <a:p>
            <a:pPr algn="l">
              <a:spcAft>
                <a:spcPts val="1000"/>
              </a:spcAft>
            </a:pPr>
            <a:r>
              <a:rPr sz="1200" b="1">
                <a:solidFill>
                  <a:srgbClr val="51CE95"/>
                </a:solidFill>
                <a:latin typeface="Aptos"/>
              </a:rPr>
              <a:t>OBSERVED: PASSED  |  Test Explorer: 6 PASSED, 0 FAILED</a:t>
            </a:r>
          </a:p>
        </p:txBody>
      </p:sp>
      <p:pic>
        <p:nvPicPr>
          <p:cNvPr id="14" name="Picture 13" descr="image.png"/>
          <p:cNvPicPr>
            <a:picLocks noChangeAspect="1"/>
          </p:cNvPicPr>
          <p:nvPr/>
        </p:nvPicPr>
        <p:blipFill>
          <a:blip r:embed="rId2"/>
          <a:stretch>
            <a:fillRect/>
          </a:stretch>
        </p:blipFill>
        <p:spPr>
          <a:xfrm>
            <a:off x="11082528" y="5440680"/>
            <a:ext cx="886968" cy="1152144"/>
          </a:xfrm>
          <a:prstGeom prst="rect">
            <a:avLst/>
          </a:prstGeom>
        </p:spPr>
      </p:pic>
      <p:pic>
        <p:nvPicPr>
          <p:cNvPr id="15" name="Picture 14" descr="evidence_RejectNegativeIndex.png"/>
          <p:cNvPicPr>
            <a:picLocks noChangeAspect="1"/>
          </p:cNvPicPr>
          <p:nvPr/>
        </p:nvPicPr>
        <p:blipFill>
          <a:blip r:embed="rId3"/>
          <a:stretch>
            <a:fillRect/>
          </a:stretch>
        </p:blipFill>
        <p:spPr>
          <a:xfrm>
            <a:off x="6053328" y="2779776"/>
            <a:ext cx="4727448" cy="2368296"/>
          </a:xfrm>
          <a:prstGeom prst="rect">
            <a:avLst/>
          </a:prstGeom>
        </p:spPr>
      </p:pic>
      <p:sp>
        <p:nvSpPr>
          <p:cNvPr id="16" name="TextBox 15"/>
          <p:cNvSpPr txBox="1"/>
          <p:nvPr/>
        </p:nvSpPr>
        <p:spPr>
          <a:xfrm>
            <a:off x="6099048" y="5276088"/>
            <a:ext cx="4608576" cy="201168"/>
          </a:xfrm>
          <a:prstGeom prst="rect">
            <a:avLst/>
          </a:prstGeom>
          <a:noFill/>
        </p:spPr>
        <p:txBody>
          <a:bodyPr wrap="none">
            <a:spAutoFit/>
          </a:bodyPr>
          <a:lstStyle/>
          <a:p>
            <a:pPr>
              <a:defRPr sz="900">
                <a:solidFill>
                  <a:srgbClr val="AFBFC3"/>
                </a:solidFill>
              </a:defRPr>
            </a:pPr>
            <a:r>
              <a:t>ACTUAL TEST EXPLORER RUN  •  RejectNegativeIndex HIGHLIGHTED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3232" y="777240"/>
            <a:ext cx="10789920" cy="777240"/>
          </a:xfrm>
          <a:prstGeom prst="rect">
            <a:avLst/>
          </a:prstGeom>
          <a:noFill/>
        </p:spPr>
        <p:txBody>
          <a:bodyPr wrap="square" lIns="82296" tIns="54864" rIns="82296" bIns="36576">
            <a:spAutoFit/>
          </a:bodyPr>
          <a:lstStyle/>
          <a:p>
            <a:pPr algn="l">
              <a:spcAft>
                <a:spcPts val="1000"/>
              </a:spcAft>
            </a:pPr>
            <a:r>
              <a:rPr sz="2800" b="0">
                <a:solidFill>
                  <a:srgbClr val="F8FBF7"/>
                </a:solidFill>
                <a:latin typeface="Aptos"/>
              </a:rPr>
              <a:t>UNIT TEST 5  |  Is an index equal to size rejected?</a:t>
            </a:r>
          </a:p>
        </p:txBody>
      </p:sp>
      <p:sp>
        <p:nvSpPr>
          <p:cNvPr id="3" name="Rectangle 2"/>
          <p:cNvSpPr/>
          <p:nvPr/>
        </p:nvSpPr>
        <p:spPr>
          <a:xfrm>
            <a:off x="731520" y="1655064"/>
            <a:ext cx="10607040" cy="36576"/>
          </a:xfrm>
          <a:prstGeom prst="rect">
            <a:avLst/>
          </a:prstGeom>
          <a:solidFill>
            <a:srgbClr val="7BB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13232" y="2002536"/>
            <a:ext cx="4864608" cy="3648456"/>
          </a:xfrm>
          <a:prstGeom prst="roundRect">
            <a:avLst/>
          </a:prstGeom>
          <a:solidFill>
            <a:srgbClr val="0F1F19"/>
          </a:solidFill>
          <a:ln w="12700">
            <a:solidFill>
              <a:srgbClr val="26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05256" y="2249424"/>
            <a:ext cx="4434840" cy="237744"/>
          </a:xfrm>
          <a:prstGeom prst="rect">
            <a:avLst/>
          </a:prstGeom>
          <a:noFill/>
        </p:spPr>
        <p:txBody>
          <a:bodyPr wrap="square" lIns="82296" tIns="54864" rIns="82296" bIns="36576">
            <a:spAutoFit/>
          </a:bodyPr>
          <a:lstStyle/>
          <a:p>
            <a:pPr algn="l">
              <a:spcAft>
                <a:spcPts val="1000"/>
              </a:spcAft>
            </a:pPr>
            <a:r>
              <a:rPr sz="1300" b="1">
                <a:solidFill>
                  <a:srgbClr val="FFD368"/>
                </a:solidFill>
                <a:latin typeface="Aptos"/>
              </a:rPr>
              <a:t>NEGATIVE TEST  •  REJECTINDEXATSIZE</a:t>
            </a:r>
          </a:p>
        </p:txBody>
      </p:sp>
      <p:sp>
        <p:nvSpPr>
          <p:cNvPr id="6" name="TextBox 5"/>
          <p:cNvSpPr txBox="1"/>
          <p:nvPr/>
        </p:nvSpPr>
        <p:spPr>
          <a:xfrm>
            <a:off x="905256" y="2916936"/>
            <a:ext cx="4343400" cy="237744"/>
          </a:xfrm>
          <a:prstGeom prst="rect">
            <a:avLst/>
          </a:prstGeom>
          <a:noFill/>
        </p:spPr>
        <p:txBody>
          <a:bodyPr wrap="square" lIns="82296" tIns="54864" rIns="82296" bIns="36576">
            <a:spAutoFit/>
          </a:bodyPr>
          <a:lstStyle/>
          <a:p>
            <a:pPr algn="l">
              <a:spcAft>
                <a:spcPts val="1000"/>
              </a:spcAft>
            </a:pPr>
            <a:r>
              <a:rPr sz="1200" b="1">
                <a:solidFill>
                  <a:srgbClr val="D1D7D6"/>
                </a:solidFill>
                <a:latin typeface="Aptos"/>
              </a:rPr>
              <a:t>INPUT</a:t>
            </a:r>
          </a:p>
        </p:txBody>
      </p:sp>
      <p:sp>
        <p:nvSpPr>
          <p:cNvPr id="7" name="TextBox 6"/>
          <p:cNvSpPr txBox="1"/>
          <p:nvPr/>
        </p:nvSpPr>
        <p:spPr>
          <a:xfrm>
            <a:off x="905256" y="3246120"/>
            <a:ext cx="4389120" cy="557784"/>
          </a:xfrm>
          <a:prstGeom prst="rect">
            <a:avLst/>
          </a:prstGeom>
          <a:noFill/>
        </p:spPr>
        <p:txBody>
          <a:bodyPr wrap="square" lIns="82296" tIns="54864" rIns="82296" bIns="36576">
            <a:spAutoFit/>
          </a:bodyPr>
          <a:lstStyle/>
          <a:p>
            <a:pPr algn="l">
              <a:spcAft>
                <a:spcPts val="1000"/>
              </a:spcAft>
            </a:pPr>
            <a:r>
              <a:rPr sz="2000" b="0">
                <a:solidFill>
                  <a:srgbClr val="F8FBF7"/>
                </a:solidFill>
                <a:latin typeface="Aptos"/>
              </a:rPr>
              <a:t>{10, 20, 30}  |  index 3</a:t>
            </a:r>
          </a:p>
        </p:txBody>
      </p:sp>
      <p:sp>
        <p:nvSpPr>
          <p:cNvPr id="8" name="TextBox 7"/>
          <p:cNvSpPr txBox="1"/>
          <p:nvPr/>
        </p:nvSpPr>
        <p:spPr>
          <a:xfrm>
            <a:off x="905256" y="4069080"/>
            <a:ext cx="4343400" cy="237744"/>
          </a:xfrm>
          <a:prstGeom prst="rect">
            <a:avLst/>
          </a:prstGeom>
          <a:noFill/>
        </p:spPr>
        <p:txBody>
          <a:bodyPr wrap="square" lIns="82296" tIns="54864" rIns="82296" bIns="36576">
            <a:spAutoFit/>
          </a:bodyPr>
          <a:lstStyle/>
          <a:p>
            <a:pPr algn="l">
              <a:spcAft>
                <a:spcPts val="1000"/>
              </a:spcAft>
            </a:pPr>
            <a:r>
              <a:rPr sz="1200" b="1">
                <a:solidFill>
                  <a:srgbClr val="D1D7D6"/>
                </a:solidFill>
                <a:latin typeface="Aptos"/>
              </a:rPr>
              <a:t>EXPECTED RESULT</a:t>
            </a:r>
          </a:p>
        </p:txBody>
      </p:sp>
      <p:sp>
        <p:nvSpPr>
          <p:cNvPr id="9" name="TextBox 8"/>
          <p:cNvSpPr txBox="1"/>
          <p:nvPr/>
        </p:nvSpPr>
        <p:spPr>
          <a:xfrm>
            <a:off x="905256" y="4398264"/>
            <a:ext cx="4389120" cy="594360"/>
          </a:xfrm>
          <a:prstGeom prst="rect">
            <a:avLst/>
          </a:prstGeom>
          <a:noFill/>
        </p:spPr>
        <p:txBody>
          <a:bodyPr wrap="square" lIns="82296" tIns="54864" rIns="82296" bIns="36576">
            <a:spAutoFit/>
          </a:bodyPr>
          <a:lstStyle/>
          <a:p>
            <a:pPr algn="l">
              <a:spcAft>
                <a:spcPts val="1000"/>
              </a:spcAft>
            </a:pPr>
            <a:r>
              <a:rPr sz="1800" b="0">
                <a:solidFill>
                  <a:srgbClr val="98E3AF"/>
                </a:solidFill>
                <a:latin typeface="Aptos"/>
              </a:rPr>
              <a:t>std::out_of_range thrown</a:t>
            </a:r>
          </a:p>
        </p:txBody>
      </p:sp>
      <p:sp>
        <p:nvSpPr>
          <p:cNvPr id="10" name="Rounded Rectangle 9"/>
          <p:cNvSpPr/>
          <p:nvPr/>
        </p:nvSpPr>
        <p:spPr>
          <a:xfrm>
            <a:off x="5824728" y="2002536"/>
            <a:ext cx="5285232" cy="3648456"/>
          </a:xfrm>
          <a:prstGeom prst="roundRect">
            <a:avLst/>
          </a:prstGeom>
          <a:solidFill>
            <a:srgbClr val="21231F"/>
          </a:solidFill>
          <a:ln w="12700">
            <a:solidFill>
              <a:srgbClr val="696F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62472" y="2304288"/>
            <a:ext cx="4745736" cy="237744"/>
          </a:xfrm>
          <a:prstGeom prst="rect">
            <a:avLst/>
          </a:prstGeom>
          <a:noFill/>
        </p:spPr>
        <p:txBody>
          <a:bodyPr wrap="square" lIns="82296" tIns="54864" rIns="82296" bIns="36576">
            <a:spAutoFit/>
          </a:bodyPr>
          <a:lstStyle/>
          <a:p>
            <a:pPr algn="l">
              <a:spcAft>
                <a:spcPts val="1000"/>
              </a:spcAft>
            </a:pPr>
            <a:r>
              <a:rPr sz="1300" b="1">
                <a:solidFill>
                  <a:srgbClr val="FFD368"/>
                </a:solidFill>
                <a:latin typeface="Aptos"/>
              </a:rPr>
              <a:t>ACTUAL TEST EXPLORER EVIDENCE</a:t>
            </a:r>
          </a:p>
        </p:txBody>
      </p:sp>
      <p:sp>
        <p:nvSpPr>
          <p:cNvPr id="12" name="TextBox 11"/>
          <p:cNvSpPr txBox="1"/>
          <p:nvPr/>
        </p:nvSpPr>
        <p:spPr>
          <a:xfrm>
            <a:off x="6135624" y="3264408"/>
            <a:ext cx="4626864" cy="1517904"/>
          </a:xfrm>
          <a:prstGeom prst="rect">
            <a:avLst/>
          </a:prstGeom>
          <a:noFill/>
        </p:spPr>
        <p:txBody>
          <a:bodyPr wrap="square" lIns="82296" tIns="54864" rIns="82296" bIns="36576">
            <a:spAutoFit/>
          </a:bodyPr>
          <a:lstStyle/>
          <a:p>
            <a:pPr algn="l">
              <a:spcAft>
                <a:spcPts val="1000"/>
              </a:spcAft>
            </a:pPr>
            <a:endParaRPr/>
          </a:p>
        </p:txBody>
      </p:sp>
      <p:sp>
        <p:nvSpPr>
          <p:cNvPr id="13" name="TextBox 12"/>
          <p:cNvSpPr txBox="1"/>
          <p:nvPr/>
        </p:nvSpPr>
        <p:spPr>
          <a:xfrm>
            <a:off x="786384" y="6062472"/>
            <a:ext cx="10789920" cy="237744"/>
          </a:xfrm>
          <a:prstGeom prst="rect">
            <a:avLst/>
          </a:prstGeom>
          <a:noFill/>
        </p:spPr>
        <p:txBody>
          <a:bodyPr wrap="square" lIns="82296" tIns="54864" rIns="82296" bIns="36576">
            <a:spAutoFit/>
          </a:bodyPr>
          <a:lstStyle/>
          <a:p>
            <a:pPr algn="l">
              <a:spcAft>
                <a:spcPts val="1000"/>
              </a:spcAft>
            </a:pPr>
            <a:r>
              <a:rPr sz="1200" b="1">
                <a:solidFill>
                  <a:srgbClr val="51CE95"/>
                </a:solidFill>
                <a:latin typeface="Aptos"/>
              </a:rPr>
              <a:t>OBSERVED: PASSED  |  Test Explorer: 6 PASSED, 0 FAILED</a:t>
            </a:r>
          </a:p>
        </p:txBody>
      </p:sp>
      <p:pic>
        <p:nvPicPr>
          <p:cNvPr id="14" name="Picture 13" descr="image.png"/>
          <p:cNvPicPr>
            <a:picLocks noChangeAspect="1"/>
          </p:cNvPicPr>
          <p:nvPr/>
        </p:nvPicPr>
        <p:blipFill>
          <a:blip r:embed="rId2"/>
          <a:stretch>
            <a:fillRect/>
          </a:stretch>
        </p:blipFill>
        <p:spPr>
          <a:xfrm>
            <a:off x="11082528" y="5440680"/>
            <a:ext cx="886968" cy="1152144"/>
          </a:xfrm>
          <a:prstGeom prst="rect">
            <a:avLst/>
          </a:prstGeom>
        </p:spPr>
      </p:pic>
      <p:pic>
        <p:nvPicPr>
          <p:cNvPr id="15" name="Picture 14" descr="evidence_RejectIndexAtSize.png"/>
          <p:cNvPicPr>
            <a:picLocks noChangeAspect="1"/>
          </p:cNvPicPr>
          <p:nvPr/>
        </p:nvPicPr>
        <p:blipFill>
          <a:blip r:embed="rId3"/>
          <a:stretch>
            <a:fillRect/>
          </a:stretch>
        </p:blipFill>
        <p:spPr>
          <a:xfrm>
            <a:off x="6053328" y="2779776"/>
            <a:ext cx="4727448" cy="2368296"/>
          </a:xfrm>
          <a:prstGeom prst="rect">
            <a:avLst/>
          </a:prstGeom>
        </p:spPr>
      </p:pic>
      <p:sp>
        <p:nvSpPr>
          <p:cNvPr id="16" name="TextBox 15"/>
          <p:cNvSpPr txBox="1"/>
          <p:nvPr/>
        </p:nvSpPr>
        <p:spPr>
          <a:xfrm>
            <a:off x="6099048" y="5276088"/>
            <a:ext cx="4608576" cy="201168"/>
          </a:xfrm>
          <a:prstGeom prst="rect">
            <a:avLst/>
          </a:prstGeom>
          <a:noFill/>
        </p:spPr>
        <p:txBody>
          <a:bodyPr wrap="none">
            <a:spAutoFit/>
          </a:bodyPr>
          <a:lstStyle/>
          <a:p>
            <a:pPr>
              <a:defRPr sz="900">
                <a:solidFill>
                  <a:srgbClr val="AFBFC3"/>
                </a:solidFill>
              </a:defRPr>
            </a:pPr>
            <a:r>
              <a:t>ACTUAL TEST EXPLORER RUN  •  RejectIndexAtSize HIGHLIGHTED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3232" y="777240"/>
            <a:ext cx="10789920" cy="777240"/>
          </a:xfrm>
          <a:prstGeom prst="rect">
            <a:avLst/>
          </a:prstGeom>
          <a:noFill/>
        </p:spPr>
        <p:txBody>
          <a:bodyPr wrap="square" lIns="82296" tIns="54864" rIns="82296" bIns="36576">
            <a:spAutoFit/>
          </a:bodyPr>
          <a:lstStyle/>
          <a:p>
            <a:pPr algn="l">
              <a:spcAft>
                <a:spcPts val="1000"/>
              </a:spcAft>
            </a:pPr>
            <a:r>
              <a:rPr sz="2800" b="0">
                <a:solidFill>
                  <a:srgbClr val="F8FBF7"/>
                </a:solidFill>
                <a:latin typeface="Aptos"/>
              </a:rPr>
              <a:t>UNIT TEST 6  |  Is empty-container access rejected?</a:t>
            </a:r>
          </a:p>
        </p:txBody>
      </p:sp>
      <p:sp>
        <p:nvSpPr>
          <p:cNvPr id="3" name="Rectangle 2"/>
          <p:cNvSpPr/>
          <p:nvPr/>
        </p:nvSpPr>
        <p:spPr>
          <a:xfrm>
            <a:off x="731520" y="1655064"/>
            <a:ext cx="10607040" cy="36576"/>
          </a:xfrm>
          <a:prstGeom prst="rect">
            <a:avLst/>
          </a:prstGeom>
          <a:solidFill>
            <a:srgbClr val="7BB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13232" y="2002536"/>
            <a:ext cx="4864608" cy="3648456"/>
          </a:xfrm>
          <a:prstGeom prst="roundRect">
            <a:avLst/>
          </a:prstGeom>
          <a:solidFill>
            <a:srgbClr val="0F1F19"/>
          </a:solidFill>
          <a:ln w="12700">
            <a:solidFill>
              <a:srgbClr val="26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05256" y="2249424"/>
            <a:ext cx="4434840" cy="237744"/>
          </a:xfrm>
          <a:prstGeom prst="rect">
            <a:avLst/>
          </a:prstGeom>
          <a:noFill/>
        </p:spPr>
        <p:txBody>
          <a:bodyPr wrap="square" lIns="82296" tIns="54864" rIns="82296" bIns="36576">
            <a:spAutoFit/>
          </a:bodyPr>
          <a:lstStyle/>
          <a:p>
            <a:pPr algn="l">
              <a:spcAft>
                <a:spcPts val="1000"/>
              </a:spcAft>
            </a:pPr>
            <a:r>
              <a:rPr sz="1300" b="1">
                <a:solidFill>
                  <a:srgbClr val="FFD368"/>
                </a:solidFill>
                <a:latin typeface="Aptos"/>
              </a:rPr>
              <a:t>NEGATIVE TEST  •  REJECTEMPTYCONTAINER</a:t>
            </a:r>
          </a:p>
        </p:txBody>
      </p:sp>
      <p:sp>
        <p:nvSpPr>
          <p:cNvPr id="6" name="TextBox 5"/>
          <p:cNvSpPr txBox="1"/>
          <p:nvPr/>
        </p:nvSpPr>
        <p:spPr>
          <a:xfrm>
            <a:off x="905256" y="2916936"/>
            <a:ext cx="4343400" cy="237744"/>
          </a:xfrm>
          <a:prstGeom prst="rect">
            <a:avLst/>
          </a:prstGeom>
          <a:noFill/>
        </p:spPr>
        <p:txBody>
          <a:bodyPr wrap="square" lIns="82296" tIns="54864" rIns="82296" bIns="36576">
            <a:spAutoFit/>
          </a:bodyPr>
          <a:lstStyle/>
          <a:p>
            <a:pPr algn="l">
              <a:spcAft>
                <a:spcPts val="1000"/>
              </a:spcAft>
            </a:pPr>
            <a:r>
              <a:rPr sz="1200" b="1">
                <a:solidFill>
                  <a:srgbClr val="D1D7D6"/>
                </a:solidFill>
                <a:latin typeface="Aptos"/>
              </a:rPr>
              <a:t>INPUT</a:t>
            </a:r>
          </a:p>
        </p:txBody>
      </p:sp>
      <p:sp>
        <p:nvSpPr>
          <p:cNvPr id="7" name="TextBox 6"/>
          <p:cNvSpPr txBox="1"/>
          <p:nvPr/>
        </p:nvSpPr>
        <p:spPr>
          <a:xfrm>
            <a:off x="905256" y="3246120"/>
            <a:ext cx="4389120" cy="557784"/>
          </a:xfrm>
          <a:prstGeom prst="rect">
            <a:avLst/>
          </a:prstGeom>
          <a:noFill/>
        </p:spPr>
        <p:txBody>
          <a:bodyPr wrap="square" lIns="82296" tIns="54864" rIns="82296" bIns="36576">
            <a:spAutoFit/>
          </a:bodyPr>
          <a:lstStyle/>
          <a:p>
            <a:pPr algn="l">
              <a:spcAft>
                <a:spcPts val="1000"/>
              </a:spcAft>
            </a:pPr>
            <a:r>
              <a:rPr sz="2000" b="0">
                <a:solidFill>
                  <a:srgbClr val="F8FBF7"/>
                </a:solidFill>
                <a:latin typeface="Aptos"/>
              </a:rPr>
              <a:t>{}  |  index 0</a:t>
            </a:r>
          </a:p>
        </p:txBody>
      </p:sp>
      <p:sp>
        <p:nvSpPr>
          <p:cNvPr id="8" name="TextBox 7"/>
          <p:cNvSpPr txBox="1"/>
          <p:nvPr/>
        </p:nvSpPr>
        <p:spPr>
          <a:xfrm>
            <a:off x="905256" y="4069080"/>
            <a:ext cx="4343400" cy="237744"/>
          </a:xfrm>
          <a:prstGeom prst="rect">
            <a:avLst/>
          </a:prstGeom>
          <a:noFill/>
        </p:spPr>
        <p:txBody>
          <a:bodyPr wrap="square" lIns="82296" tIns="54864" rIns="82296" bIns="36576">
            <a:spAutoFit/>
          </a:bodyPr>
          <a:lstStyle/>
          <a:p>
            <a:pPr algn="l">
              <a:spcAft>
                <a:spcPts val="1000"/>
              </a:spcAft>
            </a:pPr>
            <a:r>
              <a:rPr sz="1200" b="1">
                <a:solidFill>
                  <a:srgbClr val="D1D7D6"/>
                </a:solidFill>
                <a:latin typeface="Aptos"/>
              </a:rPr>
              <a:t>EXPECTED RESULT</a:t>
            </a:r>
          </a:p>
        </p:txBody>
      </p:sp>
      <p:sp>
        <p:nvSpPr>
          <p:cNvPr id="9" name="TextBox 8"/>
          <p:cNvSpPr txBox="1"/>
          <p:nvPr/>
        </p:nvSpPr>
        <p:spPr>
          <a:xfrm>
            <a:off x="905256" y="4398264"/>
            <a:ext cx="4389120" cy="594360"/>
          </a:xfrm>
          <a:prstGeom prst="rect">
            <a:avLst/>
          </a:prstGeom>
          <a:noFill/>
        </p:spPr>
        <p:txBody>
          <a:bodyPr wrap="square" lIns="82296" tIns="54864" rIns="82296" bIns="36576">
            <a:spAutoFit/>
          </a:bodyPr>
          <a:lstStyle/>
          <a:p>
            <a:pPr algn="l">
              <a:spcAft>
                <a:spcPts val="1000"/>
              </a:spcAft>
            </a:pPr>
            <a:r>
              <a:rPr sz="1800" b="0">
                <a:solidFill>
                  <a:srgbClr val="98E3AF"/>
                </a:solidFill>
                <a:latin typeface="Aptos"/>
              </a:rPr>
              <a:t>std::out_of_range thrown</a:t>
            </a:r>
          </a:p>
        </p:txBody>
      </p:sp>
      <p:sp>
        <p:nvSpPr>
          <p:cNvPr id="10" name="Rounded Rectangle 9"/>
          <p:cNvSpPr/>
          <p:nvPr/>
        </p:nvSpPr>
        <p:spPr>
          <a:xfrm>
            <a:off x="5824728" y="2002536"/>
            <a:ext cx="5285232" cy="3648456"/>
          </a:xfrm>
          <a:prstGeom prst="roundRect">
            <a:avLst/>
          </a:prstGeom>
          <a:solidFill>
            <a:srgbClr val="21231F"/>
          </a:solidFill>
          <a:ln w="12700">
            <a:solidFill>
              <a:srgbClr val="696F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62472" y="2304288"/>
            <a:ext cx="4745736" cy="237744"/>
          </a:xfrm>
          <a:prstGeom prst="rect">
            <a:avLst/>
          </a:prstGeom>
          <a:noFill/>
        </p:spPr>
        <p:txBody>
          <a:bodyPr wrap="square" lIns="82296" tIns="54864" rIns="82296" bIns="36576">
            <a:spAutoFit/>
          </a:bodyPr>
          <a:lstStyle/>
          <a:p>
            <a:pPr algn="l">
              <a:spcAft>
                <a:spcPts val="1000"/>
              </a:spcAft>
            </a:pPr>
            <a:r>
              <a:rPr sz="1300" b="1">
                <a:solidFill>
                  <a:srgbClr val="FFD368"/>
                </a:solidFill>
                <a:latin typeface="Aptos"/>
              </a:rPr>
              <a:t>ACTUAL TEST EXPLORER EVIDENCE</a:t>
            </a:r>
          </a:p>
        </p:txBody>
      </p:sp>
      <p:sp>
        <p:nvSpPr>
          <p:cNvPr id="12" name="TextBox 11"/>
          <p:cNvSpPr txBox="1"/>
          <p:nvPr/>
        </p:nvSpPr>
        <p:spPr>
          <a:xfrm>
            <a:off x="6135624" y="3264408"/>
            <a:ext cx="4626864" cy="1517904"/>
          </a:xfrm>
          <a:prstGeom prst="rect">
            <a:avLst/>
          </a:prstGeom>
          <a:noFill/>
        </p:spPr>
        <p:txBody>
          <a:bodyPr wrap="square" lIns="82296" tIns="54864" rIns="82296" bIns="36576">
            <a:spAutoFit/>
          </a:bodyPr>
          <a:lstStyle/>
          <a:p>
            <a:pPr algn="l">
              <a:spcAft>
                <a:spcPts val="1000"/>
              </a:spcAft>
            </a:pPr>
            <a:endParaRPr/>
          </a:p>
        </p:txBody>
      </p:sp>
      <p:sp>
        <p:nvSpPr>
          <p:cNvPr id="13" name="TextBox 12"/>
          <p:cNvSpPr txBox="1"/>
          <p:nvPr/>
        </p:nvSpPr>
        <p:spPr>
          <a:xfrm>
            <a:off x="786384" y="6062472"/>
            <a:ext cx="10789920" cy="237744"/>
          </a:xfrm>
          <a:prstGeom prst="rect">
            <a:avLst/>
          </a:prstGeom>
          <a:noFill/>
        </p:spPr>
        <p:txBody>
          <a:bodyPr wrap="square" lIns="82296" tIns="54864" rIns="82296" bIns="36576">
            <a:spAutoFit/>
          </a:bodyPr>
          <a:lstStyle/>
          <a:p>
            <a:pPr algn="l">
              <a:spcAft>
                <a:spcPts val="1000"/>
              </a:spcAft>
            </a:pPr>
            <a:r>
              <a:rPr sz="1200" b="1">
                <a:solidFill>
                  <a:srgbClr val="51CE95"/>
                </a:solidFill>
                <a:latin typeface="Aptos"/>
              </a:rPr>
              <a:t>OBSERVED: PASSED  |  Test Explorer: 6 PASSED, 0 FAILED</a:t>
            </a:r>
          </a:p>
        </p:txBody>
      </p:sp>
      <p:pic>
        <p:nvPicPr>
          <p:cNvPr id="14" name="Picture 13" descr="image.png"/>
          <p:cNvPicPr>
            <a:picLocks noChangeAspect="1"/>
          </p:cNvPicPr>
          <p:nvPr/>
        </p:nvPicPr>
        <p:blipFill>
          <a:blip r:embed="rId2"/>
          <a:stretch>
            <a:fillRect/>
          </a:stretch>
        </p:blipFill>
        <p:spPr>
          <a:xfrm>
            <a:off x="11082528" y="5440680"/>
            <a:ext cx="886968" cy="1152144"/>
          </a:xfrm>
          <a:prstGeom prst="rect">
            <a:avLst/>
          </a:prstGeom>
        </p:spPr>
      </p:pic>
      <p:pic>
        <p:nvPicPr>
          <p:cNvPr id="15" name="Picture 14" descr="evidence_RejectEmptyContainer.png"/>
          <p:cNvPicPr>
            <a:picLocks noChangeAspect="1"/>
          </p:cNvPicPr>
          <p:nvPr/>
        </p:nvPicPr>
        <p:blipFill>
          <a:blip r:embed="rId3"/>
          <a:stretch>
            <a:fillRect/>
          </a:stretch>
        </p:blipFill>
        <p:spPr>
          <a:xfrm>
            <a:off x="6053328" y="2779776"/>
            <a:ext cx="4727448" cy="2368296"/>
          </a:xfrm>
          <a:prstGeom prst="rect">
            <a:avLst/>
          </a:prstGeom>
        </p:spPr>
      </p:pic>
      <p:sp>
        <p:nvSpPr>
          <p:cNvPr id="16" name="TextBox 15"/>
          <p:cNvSpPr txBox="1"/>
          <p:nvPr/>
        </p:nvSpPr>
        <p:spPr>
          <a:xfrm>
            <a:off x="6099048" y="5276088"/>
            <a:ext cx="4608576" cy="201168"/>
          </a:xfrm>
          <a:prstGeom prst="rect">
            <a:avLst/>
          </a:prstGeom>
          <a:noFill/>
        </p:spPr>
        <p:txBody>
          <a:bodyPr wrap="none">
            <a:spAutoFit/>
          </a:bodyPr>
          <a:lstStyle/>
          <a:p>
            <a:pPr>
              <a:defRPr sz="900">
                <a:solidFill>
                  <a:srgbClr val="AFBFC3"/>
                </a:solidFill>
              </a:defRPr>
            </a:pPr>
            <a:r>
              <a:t>ACTUAL TEST EXPLORER RUN  •  RejectEmptyContainer HIGHLIGHTED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82296" tIns="54864" rIns="82296" bIns="36576" anchor="ctr" anchorCtr="0">
            <a:normAutofit/>
          </a:bodyPr>
          <a:lstStyle/>
          <a:p>
            <a:pPr marL="0" lvl="0" indent="0" algn="l" rtl="0">
              <a:lnSpc>
                <a:spcPct val="90000"/>
              </a:lnSpc>
              <a:spcBef>
                <a:spcPts val="0"/>
              </a:spcBef>
              <a:spcAft>
                <a:spcPts val="1000"/>
              </a:spcAft>
              <a:buClr>
                <a:schemeClr val="lt1"/>
              </a:buClr>
              <a:buSzPts val="4000"/>
              <a:buFont typeface="Century Gothic"/>
              <a:buNone/>
            </a:pPr>
            <a:r>
              <a:rPr sz="3000" b="0">
                <a:solidFill>
                  <a:srgbClr val="F8FBF7"/>
                </a:solidFill>
                <a:latin typeface="Aptos"/>
              </a:rPr>
              <a:t>AUTOMATION SUMMARY  |  SECURITY EVERYWHERE</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rcRect/>
          <a:stretch/>
        </p:blipFill>
        <p:spPr>
          <a:xfrm>
            <a:off x="2127250" y="2199481"/>
            <a:ext cx="7937500" cy="4013200"/>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82296" tIns="54864" rIns="82296" bIns="36576" anchor="ctr" anchorCtr="0">
            <a:normAutofit/>
          </a:bodyPr>
          <a:lstStyle/>
          <a:p>
            <a:pPr marL="0" lvl="0" indent="0" algn="l" rtl="0">
              <a:lnSpc>
                <a:spcPct val="90000"/>
              </a:lnSpc>
              <a:spcBef>
                <a:spcPts val="0"/>
              </a:spcBef>
              <a:spcAft>
                <a:spcPts val="1000"/>
              </a:spcAft>
              <a:buClr>
                <a:schemeClr val="lt1"/>
              </a:buClr>
              <a:buSzPts val="4000"/>
              <a:buFont typeface="Century Gothic"/>
              <a:buNone/>
            </a:pPr>
            <a:r>
              <a:rPr sz="3000" b="0">
                <a:solidFill>
                  <a:srgbClr val="F8FBF7"/>
                </a:solidFill>
                <a:latin typeface="Aptos"/>
              </a:rPr>
              <a:t>DEVSECOPS  |  TOOLS AND CHECKPOINTS</a:t>
            </a:r>
            <a:endParaRPr/>
          </a:p>
        </p:txBody>
      </p:sp>
      <p:pic>
        <p:nvPicPr>
          <p:cNvPr id="211" name="Google Shape;211;p1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212" name="Rounded Rectangle 211"/>
          <p:cNvSpPr/>
          <p:nvPr/>
        </p:nvSpPr>
        <p:spPr>
          <a:xfrm>
            <a:off x="749808" y="2066543"/>
            <a:ext cx="10332720" cy="667512"/>
          </a:xfrm>
          <a:prstGeom prst="roundRect">
            <a:avLst/>
          </a:prstGeom>
          <a:solidFill>
            <a:srgbClr val="0F1F19"/>
          </a:solidFill>
          <a:ln w="12700">
            <a:solidFill>
              <a:srgbClr val="26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 name="TextBox 212"/>
          <p:cNvSpPr txBox="1"/>
          <p:nvPr/>
        </p:nvSpPr>
        <p:spPr>
          <a:xfrm>
            <a:off x="932688" y="2221991"/>
            <a:ext cx="1965960" cy="237744"/>
          </a:xfrm>
          <a:prstGeom prst="rect">
            <a:avLst/>
          </a:prstGeom>
          <a:noFill/>
        </p:spPr>
        <p:txBody>
          <a:bodyPr wrap="square" lIns="82296" tIns="54864" rIns="82296" bIns="36576">
            <a:spAutoFit/>
          </a:bodyPr>
          <a:lstStyle/>
          <a:p>
            <a:pPr algn="l">
              <a:spcAft>
                <a:spcPts val="1000"/>
              </a:spcAft>
            </a:pPr>
            <a:r>
              <a:rPr sz="1500" b="1">
                <a:solidFill>
                  <a:srgbClr val="98E3AF"/>
                </a:solidFill>
                <a:latin typeface="Aptos"/>
              </a:rPr>
              <a:t>PLAN + CODE</a:t>
            </a:r>
          </a:p>
        </p:txBody>
      </p:sp>
      <p:sp>
        <p:nvSpPr>
          <p:cNvPr id="214" name="TextBox 213"/>
          <p:cNvSpPr txBox="1"/>
          <p:nvPr/>
        </p:nvSpPr>
        <p:spPr>
          <a:xfrm>
            <a:off x="3154680" y="2185415"/>
            <a:ext cx="7589520" cy="384048"/>
          </a:xfrm>
          <a:prstGeom prst="rect">
            <a:avLst/>
          </a:prstGeom>
          <a:noFill/>
        </p:spPr>
        <p:txBody>
          <a:bodyPr wrap="square" lIns="82296" tIns="54864" rIns="82296" bIns="36576">
            <a:spAutoFit/>
          </a:bodyPr>
          <a:lstStyle/>
          <a:p>
            <a:pPr algn="l">
              <a:spcAft>
                <a:spcPts val="1000"/>
              </a:spcAft>
            </a:pPr>
            <a:r>
              <a:rPr sz="1700" b="0">
                <a:solidFill>
                  <a:srgbClr val="F8FBF7"/>
                </a:solidFill>
                <a:latin typeface="Aptos"/>
              </a:rPr>
              <a:t>Threat review, input rules, reviewer checks.</a:t>
            </a:r>
          </a:p>
        </p:txBody>
      </p:sp>
      <p:sp>
        <p:nvSpPr>
          <p:cNvPr id="215" name="Rounded Rectangle 214"/>
          <p:cNvSpPr/>
          <p:nvPr/>
        </p:nvSpPr>
        <p:spPr>
          <a:xfrm>
            <a:off x="749808" y="2834639"/>
            <a:ext cx="10332720" cy="667512"/>
          </a:xfrm>
          <a:prstGeom prst="roundRect">
            <a:avLst/>
          </a:prstGeom>
          <a:solidFill>
            <a:srgbClr val="0F1F19"/>
          </a:solidFill>
          <a:ln w="12700">
            <a:solidFill>
              <a:srgbClr val="26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 name="TextBox 215"/>
          <p:cNvSpPr txBox="1"/>
          <p:nvPr/>
        </p:nvSpPr>
        <p:spPr>
          <a:xfrm>
            <a:off x="932688" y="2990087"/>
            <a:ext cx="1965960" cy="237744"/>
          </a:xfrm>
          <a:prstGeom prst="rect">
            <a:avLst/>
          </a:prstGeom>
          <a:noFill/>
        </p:spPr>
        <p:txBody>
          <a:bodyPr wrap="square" lIns="82296" tIns="54864" rIns="82296" bIns="36576">
            <a:spAutoFit/>
          </a:bodyPr>
          <a:lstStyle/>
          <a:p>
            <a:pPr algn="l">
              <a:spcAft>
                <a:spcPts val="1000"/>
              </a:spcAft>
            </a:pPr>
            <a:r>
              <a:rPr sz="1500" b="1">
                <a:solidFill>
                  <a:srgbClr val="98E3AF"/>
                </a:solidFill>
                <a:latin typeface="Aptos"/>
              </a:rPr>
              <a:t>BUILD</a:t>
            </a:r>
          </a:p>
        </p:txBody>
      </p:sp>
      <p:sp>
        <p:nvSpPr>
          <p:cNvPr id="217" name="TextBox 216"/>
          <p:cNvSpPr txBox="1"/>
          <p:nvPr/>
        </p:nvSpPr>
        <p:spPr>
          <a:xfrm>
            <a:off x="3154680" y="2953511"/>
            <a:ext cx="7589520" cy="384048"/>
          </a:xfrm>
          <a:prstGeom prst="rect">
            <a:avLst/>
          </a:prstGeom>
          <a:noFill/>
        </p:spPr>
        <p:txBody>
          <a:bodyPr wrap="square" lIns="82296" tIns="54864" rIns="82296" bIns="36576">
            <a:spAutoFit/>
          </a:bodyPr>
          <a:lstStyle/>
          <a:p>
            <a:pPr algn="l">
              <a:spcAft>
                <a:spcPts val="1000"/>
              </a:spcAft>
            </a:pPr>
            <a:r>
              <a:rPr sz="1700" b="0">
                <a:solidFill>
                  <a:srgbClr val="F8FBF7"/>
                </a:solidFill>
                <a:latin typeface="Aptos"/>
              </a:rPr>
              <a:t>MSVC warnings, clang-tidy, Cppcheck.</a:t>
            </a:r>
          </a:p>
        </p:txBody>
      </p:sp>
      <p:sp>
        <p:nvSpPr>
          <p:cNvPr id="218" name="Rounded Rectangle 217"/>
          <p:cNvSpPr/>
          <p:nvPr/>
        </p:nvSpPr>
        <p:spPr>
          <a:xfrm>
            <a:off x="749808" y="3602735"/>
            <a:ext cx="10332720" cy="667512"/>
          </a:xfrm>
          <a:prstGeom prst="roundRect">
            <a:avLst/>
          </a:prstGeom>
          <a:solidFill>
            <a:srgbClr val="0F1F19"/>
          </a:solidFill>
          <a:ln w="12700">
            <a:solidFill>
              <a:srgbClr val="26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 name="TextBox 218"/>
          <p:cNvSpPr txBox="1"/>
          <p:nvPr/>
        </p:nvSpPr>
        <p:spPr>
          <a:xfrm>
            <a:off x="932688" y="3758183"/>
            <a:ext cx="1965960" cy="237744"/>
          </a:xfrm>
          <a:prstGeom prst="rect">
            <a:avLst/>
          </a:prstGeom>
          <a:noFill/>
        </p:spPr>
        <p:txBody>
          <a:bodyPr wrap="square" lIns="82296" tIns="54864" rIns="82296" bIns="36576">
            <a:spAutoFit/>
          </a:bodyPr>
          <a:lstStyle/>
          <a:p>
            <a:pPr algn="l">
              <a:spcAft>
                <a:spcPts val="1000"/>
              </a:spcAft>
            </a:pPr>
            <a:r>
              <a:rPr sz="1500" b="1">
                <a:solidFill>
                  <a:srgbClr val="98E3AF"/>
                </a:solidFill>
                <a:latin typeface="Aptos"/>
              </a:rPr>
              <a:t>VERIFY</a:t>
            </a:r>
          </a:p>
        </p:txBody>
      </p:sp>
      <p:sp>
        <p:nvSpPr>
          <p:cNvPr id="220" name="TextBox 219"/>
          <p:cNvSpPr txBox="1"/>
          <p:nvPr/>
        </p:nvSpPr>
        <p:spPr>
          <a:xfrm>
            <a:off x="3154680" y="3721607"/>
            <a:ext cx="7589520" cy="384048"/>
          </a:xfrm>
          <a:prstGeom prst="rect">
            <a:avLst/>
          </a:prstGeom>
          <a:noFill/>
        </p:spPr>
        <p:txBody>
          <a:bodyPr wrap="square" lIns="82296" tIns="54864" rIns="82296" bIns="36576">
            <a:spAutoFit/>
          </a:bodyPr>
          <a:lstStyle/>
          <a:p>
            <a:pPr algn="l">
              <a:spcAft>
                <a:spcPts val="1000"/>
              </a:spcAft>
            </a:pPr>
            <a:r>
              <a:rPr sz="1700" b="0">
                <a:solidFill>
                  <a:srgbClr val="F8FBF7"/>
                </a:solidFill>
                <a:latin typeface="Aptos"/>
              </a:rPr>
              <a:t>Native unit tests, AddressSanitizer, CodeQL.</a:t>
            </a:r>
          </a:p>
        </p:txBody>
      </p:sp>
      <p:sp>
        <p:nvSpPr>
          <p:cNvPr id="221" name="Rounded Rectangle 220"/>
          <p:cNvSpPr/>
          <p:nvPr/>
        </p:nvSpPr>
        <p:spPr>
          <a:xfrm>
            <a:off x="749808" y="4370831"/>
            <a:ext cx="10332720" cy="667512"/>
          </a:xfrm>
          <a:prstGeom prst="roundRect">
            <a:avLst/>
          </a:prstGeom>
          <a:solidFill>
            <a:srgbClr val="0F1F19"/>
          </a:solidFill>
          <a:ln w="12700">
            <a:solidFill>
              <a:srgbClr val="26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 name="TextBox 221"/>
          <p:cNvSpPr txBox="1"/>
          <p:nvPr/>
        </p:nvSpPr>
        <p:spPr>
          <a:xfrm>
            <a:off x="932688" y="4526279"/>
            <a:ext cx="1965960" cy="237744"/>
          </a:xfrm>
          <a:prstGeom prst="rect">
            <a:avLst/>
          </a:prstGeom>
          <a:noFill/>
        </p:spPr>
        <p:txBody>
          <a:bodyPr wrap="square" lIns="82296" tIns="54864" rIns="82296" bIns="36576">
            <a:spAutoFit/>
          </a:bodyPr>
          <a:lstStyle/>
          <a:p>
            <a:pPr algn="l">
              <a:spcAft>
                <a:spcPts val="1000"/>
              </a:spcAft>
            </a:pPr>
            <a:r>
              <a:rPr sz="1500" b="1">
                <a:solidFill>
                  <a:srgbClr val="98E3AF"/>
                </a:solidFill>
                <a:latin typeface="Aptos"/>
              </a:rPr>
              <a:t>RELEASE</a:t>
            </a:r>
          </a:p>
        </p:txBody>
      </p:sp>
      <p:sp>
        <p:nvSpPr>
          <p:cNvPr id="223" name="TextBox 222"/>
          <p:cNvSpPr txBox="1"/>
          <p:nvPr/>
        </p:nvSpPr>
        <p:spPr>
          <a:xfrm>
            <a:off x="3154680" y="4489703"/>
            <a:ext cx="7589520" cy="384048"/>
          </a:xfrm>
          <a:prstGeom prst="rect">
            <a:avLst/>
          </a:prstGeom>
          <a:noFill/>
        </p:spPr>
        <p:txBody>
          <a:bodyPr wrap="square" lIns="82296" tIns="54864" rIns="82296" bIns="36576">
            <a:spAutoFit/>
          </a:bodyPr>
          <a:lstStyle/>
          <a:p>
            <a:pPr algn="l">
              <a:spcAft>
                <a:spcPts val="1000"/>
              </a:spcAft>
            </a:pPr>
            <a:r>
              <a:rPr sz="1700" b="0">
                <a:solidFill>
                  <a:srgbClr val="F8FBF7"/>
                </a:solidFill>
                <a:latin typeface="Aptos"/>
              </a:rPr>
              <a:t>Signed artifacts, approvals, blocking high risks.</a:t>
            </a:r>
          </a:p>
        </p:txBody>
      </p:sp>
      <p:sp>
        <p:nvSpPr>
          <p:cNvPr id="224" name="Rounded Rectangle 223"/>
          <p:cNvSpPr/>
          <p:nvPr/>
        </p:nvSpPr>
        <p:spPr>
          <a:xfrm>
            <a:off x="749808" y="5138927"/>
            <a:ext cx="10332720" cy="667512"/>
          </a:xfrm>
          <a:prstGeom prst="roundRect">
            <a:avLst/>
          </a:prstGeom>
          <a:solidFill>
            <a:srgbClr val="0F1F19"/>
          </a:solidFill>
          <a:ln w="12700">
            <a:solidFill>
              <a:srgbClr val="26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 name="TextBox 224"/>
          <p:cNvSpPr txBox="1"/>
          <p:nvPr/>
        </p:nvSpPr>
        <p:spPr>
          <a:xfrm>
            <a:off x="932688" y="5294375"/>
            <a:ext cx="1965960" cy="237744"/>
          </a:xfrm>
          <a:prstGeom prst="rect">
            <a:avLst/>
          </a:prstGeom>
          <a:noFill/>
        </p:spPr>
        <p:txBody>
          <a:bodyPr wrap="square" lIns="82296" tIns="54864" rIns="82296" bIns="36576">
            <a:spAutoFit/>
          </a:bodyPr>
          <a:lstStyle/>
          <a:p>
            <a:pPr algn="l">
              <a:spcAft>
                <a:spcPts val="1000"/>
              </a:spcAft>
            </a:pPr>
            <a:r>
              <a:rPr sz="1500" b="1">
                <a:solidFill>
                  <a:srgbClr val="98E3AF"/>
                </a:solidFill>
                <a:latin typeface="Aptos"/>
              </a:rPr>
              <a:t>OPERATE</a:t>
            </a:r>
          </a:p>
        </p:txBody>
      </p:sp>
      <p:sp>
        <p:nvSpPr>
          <p:cNvPr id="226" name="TextBox 225"/>
          <p:cNvSpPr txBox="1"/>
          <p:nvPr/>
        </p:nvSpPr>
        <p:spPr>
          <a:xfrm>
            <a:off x="3154680" y="5257799"/>
            <a:ext cx="7589520" cy="384048"/>
          </a:xfrm>
          <a:prstGeom prst="rect">
            <a:avLst/>
          </a:prstGeom>
          <a:noFill/>
        </p:spPr>
        <p:txBody>
          <a:bodyPr wrap="square" lIns="82296" tIns="54864" rIns="82296" bIns="36576">
            <a:spAutoFit/>
          </a:bodyPr>
          <a:lstStyle/>
          <a:p>
            <a:pPr algn="l">
              <a:spcAft>
                <a:spcPts val="1000"/>
              </a:spcAft>
            </a:pPr>
            <a:r>
              <a:rPr sz="1700" b="0">
                <a:solidFill>
                  <a:srgbClr val="F8FBF7"/>
                </a:solidFill>
                <a:latin typeface="Aptos"/>
              </a:rPr>
              <a:t>Access logs, alerting, response, feedback.</a:t>
            </a:r>
          </a:p>
        </p:txBody>
      </p:sp>
      <p:sp>
        <p:nvSpPr>
          <p:cNvPr id="227" name="TextBox 226"/>
          <p:cNvSpPr txBox="1"/>
          <p:nvPr/>
        </p:nvSpPr>
        <p:spPr>
          <a:xfrm>
            <a:off x="749808" y="6254496"/>
            <a:ext cx="10607040" cy="237744"/>
          </a:xfrm>
          <a:prstGeom prst="rect">
            <a:avLst/>
          </a:prstGeom>
          <a:noFill/>
        </p:spPr>
        <p:txBody>
          <a:bodyPr wrap="square" lIns="82296" tIns="54864" rIns="82296" bIns="36576">
            <a:spAutoFit/>
          </a:bodyPr>
          <a:lstStyle/>
          <a:p>
            <a:pPr algn="l">
              <a:spcAft>
                <a:spcPts val="1000"/>
              </a:spcAft>
            </a:pPr>
            <a:r>
              <a:rPr sz="1100" b="1">
                <a:solidFill>
                  <a:srgbClr val="D1D7D6"/>
                </a:solidFill>
                <a:latin typeface="Aptos"/>
              </a:rPr>
              <a:t>TOOL VERSIONS IN PROJECT ONE ARE PROPOSED BASELINES—NOT EVIDENCE OF INSTALLATION OR SCANS</a:t>
            </a:r>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82296" tIns="54864" rIns="82296" bIns="36576" anchor="ctr" anchorCtr="0">
            <a:normAutofit/>
          </a:bodyPr>
          <a:lstStyle/>
          <a:p>
            <a:pPr marL="0" lvl="0" indent="0" algn="l" rtl="0">
              <a:lnSpc>
                <a:spcPct val="90000"/>
              </a:lnSpc>
              <a:spcBef>
                <a:spcPts val="0"/>
              </a:spcBef>
              <a:spcAft>
                <a:spcPts val="1000"/>
              </a:spcAft>
              <a:buClr>
                <a:schemeClr val="lt1"/>
              </a:buClr>
              <a:buSzPts val="4000"/>
              <a:buFont typeface="Century Gothic"/>
              <a:buNone/>
            </a:pPr>
            <a:r>
              <a:rPr sz="3000" b="0">
                <a:solidFill>
                  <a:srgbClr val="F8FBF7"/>
                </a:solidFill>
                <a:latin typeface="Aptos"/>
              </a:rPr>
              <a:t>RISKS AND BENEFITS  |  ACT OR WAIT?</a:t>
            </a:r>
            <a:endParaRPr/>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219" name="Rounded Rectangle 218"/>
          <p:cNvSpPr/>
          <p:nvPr/>
        </p:nvSpPr>
        <p:spPr>
          <a:xfrm>
            <a:off x="658368" y="2267712"/>
            <a:ext cx="3493008" cy="3557016"/>
          </a:xfrm>
          <a:prstGeom prst="roundRect">
            <a:avLst/>
          </a:prstGeom>
          <a:solidFill>
            <a:srgbClr val="0F1F19"/>
          </a:solidFill>
          <a:ln w="12700">
            <a:solidFill>
              <a:srgbClr val="26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 name="TextBox 219"/>
          <p:cNvSpPr txBox="1"/>
          <p:nvPr/>
        </p:nvSpPr>
        <p:spPr>
          <a:xfrm>
            <a:off x="822959" y="2542032"/>
            <a:ext cx="2926080" cy="237744"/>
          </a:xfrm>
          <a:prstGeom prst="rect">
            <a:avLst/>
          </a:prstGeom>
          <a:noFill/>
        </p:spPr>
        <p:txBody>
          <a:bodyPr wrap="square" lIns="82296" tIns="54864" rIns="82296" bIns="36576">
            <a:spAutoFit/>
          </a:bodyPr>
          <a:lstStyle/>
          <a:p>
            <a:pPr algn="l">
              <a:spcAft>
                <a:spcPts val="1000"/>
              </a:spcAft>
            </a:pPr>
            <a:r>
              <a:rPr sz="1700" b="1">
                <a:solidFill>
                  <a:srgbClr val="98E3AF"/>
                </a:solidFill>
                <a:latin typeface="Aptos"/>
              </a:rPr>
              <a:t>ACT NOW</a:t>
            </a:r>
          </a:p>
        </p:txBody>
      </p:sp>
      <p:sp>
        <p:nvSpPr>
          <p:cNvPr id="221" name="TextBox 220"/>
          <p:cNvSpPr txBox="1"/>
          <p:nvPr/>
        </p:nvSpPr>
        <p:spPr>
          <a:xfrm>
            <a:off x="822959" y="2980944"/>
            <a:ext cx="3127248" cy="466344"/>
          </a:xfrm>
          <a:prstGeom prst="rect">
            <a:avLst/>
          </a:prstGeom>
          <a:noFill/>
        </p:spPr>
        <p:txBody>
          <a:bodyPr wrap="square" lIns="82296" tIns="54864" rIns="82296" bIns="36576">
            <a:spAutoFit/>
          </a:bodyPr>
          <a:lstStyle/>
          <a:p>
            <a:pPr algn="l">
              <a:spcAft>
                <a:spcPts val="1000"/>
              </a:spcAft>
            </a:pPr>
            <a:r>
              <a:rPr sz="2000" b="1">
                <a:solidFill>
                  <a:srgbClr val="F8FBF7"/>
                </a:solidFill>
                <a:latin typeface="Aptos"/>
              </a:rPr>
              <a:t>Manage exposure</a:t>
            </a:r>
          </a:p>
        </p:txBody>
      </p:sp>
      <p:sp>
        <p:nvSpPr>
          <p:cNvPr id="222" name="TextBox 221"/>
          <p:cNvSpPr txBox="1"/>
          <p:nvPr/>
        </p:nvSpPr>
        <p:spPr>
          <a:xfrm>
            <a:off x="822959" y="3675887"/>
            <a:ext cx="3163824" cy="1874519"/>
          </a:xfrm>
          <a:prstGeom prst="rect">
            <a:avLst/>
          </a:prstGeom>
          <a:noFill/>
        </p:spPr>
        <p:txBody>
          <a:bodyPr wrap="square" lIns="82296" tIns="54864" rIns="82296" bIns="36576">
            <a:spAutoFit/>
          </a:bodyPr>
          <a:lstStyle/>
          <a:p>
            <a:pPr algn="l">
              <a:spcAft>
                <a:spcPts val="1000"/>
              </a:spcAft>
            </a:pPr>
            <a:r>
              <a:rPr sz="1600" b="0">
                <a:solidFill>
                  <a:srgbClr val="D1D7D6"/>
                </a:solidFill>
                <a:latin typeface="Aptos"/>
              </a:rPr>
              <a:t>Catch vulnerable code before shipping.</a:t>
            </a:r>
          </a:p>
          <a:p>
            <a:pPr algn="l">
              <a:spcAft>
                <a:spcPts val="1000"/>
              </a:spcAft>
            </a:pPr>
            <a:r>
              <a:rPr sz="1600" b="0">
                <a:solidFill>
                  <a:srgbClr val="D1D7D6"/>
                </a:solidFill>
                <a:latin typeface="Aptos"/>
              </a:rPr>
              <a:t>Reduce cost of rework.</a:t>
            </a:r>
          </a:p>
          <a:p>
            <a:pPr algn="l">
              <a:spcAft>
                <a:spcPts val="1000"/>
              </a:spcAft>
            </a:pPr>
            <a:r>
              <a:rPr sz="1600" b="0">
                <a:solidFill>
                  <a:srgbClr val="D1D7D6"/>
                </a:solidFill>
                <a:latin typeface="Aptos"/>
              </a:rPr>
              <a:t>Improve release traceability.</a:t>
            </a:r>
          </a:p>
        </p:txBody>
      </p:sp>
      <p:sp>
        <p:nvSpPr>
          <p:cNvPr id="223" name="Rounded Rectangle 222"/>
          <p:cNvSpPr/>
          <p:nvPr/>
        </p:nvSpPr>
        <p:spPr>
          <a:xfrm>
            <a:off x="4407407" y="2267712"/>
            <a:ext cx="3493008" cy="3557016"/>
          </a:xfrm>
          <a:prstGeom prst="roundRect">
            <a:avLst/>
          </a:prstGeom>
          <a:solidFill>
            <a:srgbClr val="0F1F19"/>
          </a:solidFill>
          <a:ln w="12700">
            <a:solidFill>
              <a:srgbClr val="26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 name="TextBox 223"/>
          <p:cNvSpPr txBox="1"/>
          <p:nvPr/>
        </p:nvSpPr>
        <p:spPr>
          <a:xfrm>
            <a:off x="4571999" y="2542032"/>
            <a:ext cx="2926080" cy="237744"/>
          </a:xfrm>
          <a:prstGeom prst="rect">
            <a:avLst/>
          </a:prstGeom>
          <a:noFill/>
        </p:spPr>
        <p:txBody>
          <a:bodyPr wrap="square" lIns="82296" tIns="54864" rIns="82296" bIns="36576">
            <a:spAutoFit/>
          </a:bodyPr>
          <a:lstStyle/>
          <a:p>
            <a:pPr algn="l">
              <a:spcAft>
                <a:spcPts val="1000"/>
              </a:spcAft>
            </a:pPr>
            <a:r>
              <a:rPr sz="1700" b="1">
                <a:solidFill>
                  <a:srgbClr val="FFD368"/>
                </a:solidFill>
                <a:latin typeface="Aptos"/>
              </a:rPr>
              <a:t>WAIT</a:t>
            </a:r>
          </a:p>
        </p:txBody>
      </p:sp>
      <p:sp>
        <p:nvSpPr>
          <p:cNvPr id="225" name="TextBox 224"/>
          <p:cNvSpPr txBox="1"/>
          <p:nvPr/>
        </p:nvSpPr>
        <p:spPr>
          <a:xfrm>
            <a:off x="4571999" y="2980944"/>
            <a:ext cx="3127248" cy="466344"/>
          </a:xfrm>
          <a:prstGeom prst="rect">
            <a:avLst/>
          </a:prstGeom>
          <a:noFill/>
        </p:spPr>
        <p:txBody>
          <a:bodyPr wrap="square" lIns="82296" tIns="54864" rIns="82296" bIns="36576">
            <a:spAutoFit/>
          </a:bodyPr>
          <a:lstStyle/>
          <a:p>
            <a:pPr algn="l">
              <a:spcAft>
                <a:spcPts val="1000"/>
              </a:spcAft>
            </a:pPr>
            <a:r>
              <a:rPr sz="2000" b="1">
                <a:solidFill>
                  <a:srgbClr val="F8FBF7"/>
                </a:solidFill>
                <a:latin typeface="Aptos"/>
              </a:rPr>
              <a:t>Accept avoidable risk</a:t>
            </a:r>
          </a:p>
        </p:txBody>
      </p:sp>
      <p:sp>
        <p:nvSpPr>
          <p:cNvPr id="226" name="TextBox 225"/>
          <p:cNvSpPr txBox="1"/>
          <p:nvPr/>
        </p:nvSpPr>
        <p:spPr>
          <a:xfrm>
            <a:off x="4571999" y="3675887"/>
            <a:ext cx="3163824" cy="1874519"/>
          </a:xfrm>
          <a:prstGeom prst="rect">
            <a:avLst/>
          </a:prstGeom>
          <a:noFill/>
        </p:spPr>
        <p:txBody>
          <a:bodyPr wrap="square" lIns="82296" tIns="54864" rIns="82296" bIns="36576">
            <a:spAutoFit/>
          </a:bodyPr>
          <a:lstStyle/>
          <a:p>
            <a:pPr algn="l">
              <a:spcAft>
                <a:spcPts val="1000"/>
              </a:spcAft>
            </a:pPr>
            <a:r>
              <a:rPr sz="1600" b="0">
                <a:solidFill>
                  <a:srgbClr val="D1D7D6"/>
                </a:solidFill>
                <a:latin typeface="Aptos"/>
              </a:rPr>
              <a:t>Defects travel into production.</a:t>
            </a:r>
          </a:p>
          <a:p>
            <a:pPr algn="l">
              <a:spcAft>
                <a:spcPts val="1000"/>
              </a:spcAft>
            </a:pPr>
            <a:r>
              <a:rPr sz="1600" b="0">
                <a:solidFill>
                  <a:srgbClr val="D1D7D6"/>
                </a:solidFill>
                <a:latin typeface="Aptos"/>
              </a:rPr>
              <a:t>More expensive incident response.</a:t>
            </a:r>
          </a:p>
          <a:p>
            <a:pPr algn="l">
              <a:spcAft>
                <a:spcPts val="1000"/>
              </a:spcAft>
            </a:pPr>
            <a:r>
              <a:rPr sz="1600" b="0">
                <a:solidFill>
                  <a:srgbClr val="D1D7D6"/>
                </a:solidFill>
                <a:latin typeface="Aptos"/>
              </a:rPr>
              <a:t>Weaker evidence for audits.</a:t>
            </a:r>
          </a:p>
        </p:txBody>
      </p:sp>
      <p:sp>
        <p:nvSpPr>
          <p:cNvPr id="227" name="Rounded Rectangle 226"/>
          <p:cNvSpPr/>
          <p:nvPr/>
        </p:nvSpPr>
        <p:spPr>
          <a:xfrm>
            <a:off x="8156448" y="2267712"/>
            <a:ext cx="3493008" cy="3557016"/>
          </a:xfrm>
          <a:prstGeom prst="roundRect">
            <a:avLst/>
          </a:prstGeom>
          <a:solidFill>
            <a:srgbClr val="0F1F19"/>
          </a:solidFill>
          <a:ln w="12700">
            <a:solidFill>
              <a:srgbClr val="26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 name="TextBox 227"/>
          <p:cNvSpPr txBox="1"/>
          <p:nvPr/>
        </p:nvSpPr>
        <p:spPr>
          <a:xfrm>
            <a:off x="8321040" y="2542032"/>
            <a:ext cx="2926080" cy="237744"/>
          </a:xfrm>
          <a:prstGeom prst="rect">
            <a:avLst/>
          </a:prstGeom>
          <a:noFill/>
        </p:spPr>
        <p:txBody>
          <a:bodyPr wrap="square" lIns="82296" tIns="54864" rIns="82296" bIns="36576">
            <a:spAutoFit/>
          </a:bodyPr>
          <a:lstStyle/>
          <a:p>
            <a:pPr algn="l">
              <a:spcAft>
                <a:spcPts val="1000"/>
              </a:spcAft>
            </a:pPr>
            <a:r>
              <a:rPr sz="1700" b="1">
                <a:solidFill>
                  <a:srgbClr val="98E3AF"/>
                </a:solidFill>
                <a:latin typeface="Aptos"/>
              </a:rPr>
              <a:t>WATCH OUT</a:t>
            </a:r>
          </a:p>
        </p:txBody>
      </p:sp>
      <p:sp>
        <p:nvSpPr>
          <p:cNvPr id="229" name="TextBox 228"/>
          <p:cNvSpPr txBox="1"/>
          <p:nvPr/>
        </p:nvSpPr>
        <p:spPr>
          <a:xfrm>
            <a:off x="8321040" y="2980944"/>
            <a:ext cx="3127248" cy="466344"/>
          </a:xfrm>
          <a:prstGeom prst="rect">
            <a:avLst/>
          </a:prstGeom>
          <a:noFill/>
        </p:spPr>
        <p:txBody>
          <a:bodyPr wrap="square" lIns="82296" tIns="54864" rIns="82296" bIns="36576">
            <a:spAutoFit/>
          </a:bodyPr>
          <a:lstStyle/>
          <a:p>
            <a:pPr algn="l">
              <a:spcAft>
                <a:spcPts val="1000"/>
              </a:spcAft>
            </a:pPr>
            <a:r>
              <a:rPr sz="2000" b="1">
                <a:solidFill>
                  <a:srgbClr val="F8FBF7"/>
                </a:solidFill>
                <a:latin typeface="Aptos"/>
              </a:rPr>
              <a:t>Automation is not enough</a:t>
            </a:r>
          </a:p>
        </p:txBody>
      </p:sp>
      <p:sp>
        <p:nvSpPr>
          <p:cNvPr id="230" name="TextBox 229"/>
          <p:cNvSpPr txBox="1"/>
          <p:nvPr/>
        </p:nvSpPr>
        <p:spPr>
          <a:xfrm>
            <a:off x="8321040" y="3675887"/>
            <a:ext cx="3163824" cy="1874519"/>
          </a:xfrm>
          <a:prstGeom prst="rect">
            <a:avLst/>
          </a:prstGeom>
          <a:noFill/>
        </p:spPr>
        <p:txBody>
          <a:bodyPr wrap="square" lIns="82296" tIns="54864" rIns="82296" bIns="36576">
            <a:spAutoFit/>
          </a:bodyPr>
          <a:lstStyle/>
          <a:p>
            <a:pPr algn="l">
              <a:spcAft>
                <a:spcPts val="1000"/>
              </a:spcAft>
            </a:pPr>
            <a:r>
              <a:rPr sz="1600" b="0">
                <a:solidFill>
                  <a:srgbClr val="D1D7D6"/>
                </a:solidFill>
                <a:latin typeface="Aptos"/>
              </a:rPr>
              <a:t>Scanners miss context.</a:t>
            </a:r>
          </a:p>
          <a:p>
            <a:pPr algn="l">
              <a:spcAft>
                <a:spcPts val="1000"/>
              </a:spcAft>
            </a:pPr>
            <a:r>
              <a:rPr sz="1600" b="0">
                <a:solidFill>
                  <a:srgbClr val="D1D7D6"/>
                </a:solidFill>
                <a:latin typeface="Aptos"/>
              </a:rPr>
              <a:t>False positives require triage.</a:t>
            </a:r>
          </a:p>
          <a:p>
            <a:pPr algn="l">
              <a:spcAft>
                <a:spcPts val="1000"/>
              </a:spcAft>
            </a:pPr>
            <a:r>
              <a:rPr sz="1600" b="0">
                <a:solidFill>
                  <a:srgbClr val="D1D7D6"/>
                </a:solidFill>
                <a:latin typeface="Aptos"/>
              </a:rPr>
              <a:t>Human review and runtime tests still matter.</a:t>
            </a: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82296" tIns="54864" rIns="82296" bIns="36576" anchor="ctr" anchorCtr="0">
            <a:normAutofit/>
          </a:bodyPr>
          <a:lstStyle/>
          <a:p>
            <a:pPr marL="0" lvl="0" indent="0" algn="l" rtl="0">
              <a:lnSpc>
                <a:spcPct val="90000"/>
              </a:lnSpc>
              <a:spcBef>
                <a:spcPts val="0"/>
              </a:spcBef>
              <a:spcAft>
                <a:spcPts val="1000"/>
              </a:spcAft>
              <a:buClr>
                <a:schemeClr val="lt1"/>
              </a:buClr>
              <a:buSzPts val="4000"/>
              <a:buFont typeface="Century Gothic"/>
              <a:buNone/>
            </a:pPr>
            <a:r>
              <a:rPr sz="3000" b="0">
                <a:solidFill>
                  <a:srgbClr val="F8FBF7"/>
                </a:solidFill>
                <a:latin typeface="Aptos"/>
              </a:rPr>
              <a:t>RECOMMENDATIONS  |  CLOSE THE GAPS</a:t>
            </a:r>
            <a:endParaRPr/>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226" name="Rounded Rectangle 225"/>
          <p:cNvSpPr/>
          <p:nvPr/>
        </p:nvSpPr>
        <p:spPr>
          <a:xfrm>
            <a:off x="722376" y="2048256"/>
            <a:ext cx="10451592" cy="667512"/>
          </a:xfrm>
          <a:prstGeom prst="roundRect">
            <a:avLst/>
          </a:prstGeom>
          <a:solidFill>
            <a:srgbClr val="0F1F19"/>
          </a:solidFill>
          <a:ln w="12700">
            <a:solidFill>
              <a:srgbClr val="26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 name="TextBox 226"/>
          <p:cNvSpPr txBox="1"/>
          <p:nvPr/>
        </p:nvSpPr>
        <p:spPr>
          <a:xfrm>
            <a:off x="914400" y="2185416"/>
            <a:ext cx="521207" cy="292608"/>
          </a:xfrm>
          <a:prstGeom prst="rect">
            <a:avLst/>
          </a:prstGeom>
          <a:noFill/>
        </p:spPr>
        <p:txBody>
          <a:bodyPr wrap="square" lIns="82296" tIns="54864" rIns="82296" bIns="36576">
            <a:spAutoFit/>
          </a:bodyPr>
          <a:lstStyle/>
          <a:p>
            <a:pPr algn="l">
              <a:spcAft>
                <a:spcPts val="1000"/>
              </a:spcAft>
            </a:pPr>
            <a:r>
              <a:rPr sz="1600" b="1">
                <a:solidFill>
                  <a:srgbClr val="7BBC69"/>
                </a:solidFill>
                <a:latin typeface="Aptos"/>
              </a:rPr>
              <a:t>01</a:t>
            </a:r>
          </a:p>
        </p:txBody>
      </p:sp>
      <p:sp>
        <p:nvSpPr>
          <p:cNvPr id="228" name="TextBox 227"/>
          <p:cNvSpPr txBox="1"/>
          <p:nvPr/>
        </p:nvSpPr>
        <p:spPr>
          <a:xfrm>
            <a:off x="1508760" y="2176272"/>
            <a:ext cx="3840480" cy="329184"/>
          </a:xfrm>
          <a:prstGeom prst="rect">
            <a:avLst/>
          </a:prstGeom>
          <a:noFill/>
        </p:spPr>
        <p:txBody>
          <a:bodyPr wrap="square" lIns="82296" tIns="54864" rIns="82296" bIns="36576">
            <a:spAutoFit/>
          </a:bodyPr>
          <a:lstStyle/>
          <a:p>
            <a:pPr algn="l">
              <a:spcAft>
                <a:spcPts val="1000"/>
              </a:spcAft>
            </a:pPr>
            <a:r>
              <a:rPr sz="1600" b="1">
                <a:solidFill>
                  <a:srgbClr val="F8FBF7"/>
                </a:solidFill>
                <a:latin typeface="Aptos"/>
              </a:rPr>
              <a:t>Missing real scan evidence</a:t>
            </a:r>
          </a:p>
        </p:txBody>
      </p:sp>
      <p:sp>
        <p:nvSpPr>
          <p:cNvPr id="229" name="TextBox 228"/>
          <p:cNvSpPr txBox="1"/>
          <p:nvPr/>
        </p:nvSpPr>
        <p:spPr>
          <a:xfrm>
            <a:off x="5577840" y="2167128"/>
            <a:ext cx="5285232" cy="411480"/>
          </a:xfrm>
          <a:prstGeom prst="rect">
            <a:avLst/>
          </a:prstGeom>
          <a:noFill/>
        </p:spPr>
        <p:txBody>
          <a:bodyPr wrap="square" lIns="82296" tIns="54864" rIns="82296" bIns="36576">
            <a:spAutoFit/>
          </a:bodyPr>
          <a:lstStyle/>
          <a:p>
            <a:pPr algn="l">
              <a:spcAft>
                <a:spcPts val="1000"/>
              </a:spcAft>
            </a:pPr>
            <a:r>
              <a:rPr sz="1500" b="0">
                <a:solidFill>
                  <a:srgbClr val="D1D7D6"/>
                </a:solidFill>
                <a:latin typeface="Aptos"/>
              </a:rPr>
              <a:t>Run and save Cppcheck / clang-tidy outputs.</a:t>
            </a:r>
          </a:p>
        </p:txBody>
      </p:sp>
      <p:sp>
        <p:nvSpPr>
          <p:cNvPr id="230" name="Rounded Rectangle 229"/>
          <p:cNvSpPr/>
          <p:nvPr/>
        </p:nvSpPr>
        <p:spPr>
          <a:xfrm>
            <a:off x="722376" y="2834640"/>
            <a:ext cx="10451592" cy="667512"/>
          </a:xfrm>
          <a:prstGeom prst="roundRect">
            <a:avLst/>
          </a:prstGeom>
          <a:solidFill>
            <a:srgbClr val="0F1F19"/>
          </a:solidFill>
          <a:ln w="12700">
            <a:solidFill>
              <a:srgbClr val="26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 name="TextBox 230"/>
          <p:cNvSpPr txBox="1"/>
          <p:nvPr/>
        </p:nvSpPr>
        <p:spPr>
          <a:xfrm>
            <a:off x="914400" y="2971800"/>
            <a:ext cx="521207" cy="292608"/>
          </a:xfrm>
          <a:prstGeom prst="rect">
            <a:avLst/>
          </a:prstGeom>
          <a:noFill/>
        </p:spPr>
        <p:txBody>
          <a:bodyPr wrap="square" lIns="82296" tIns="54864" rIns="82296" bIns="36576">
            <a:spAutoFit/>
          </a:bodyPr>
          <a:lstStyle/>
          <a:p>
            <a:pPr algn="l">
              <a:spcAft>
                <a:spcPts val="1000"/>
              </a:spcAft>
            </a:pPr>
            <a:r>
              <a:rPr sz="1600" b="1">
                <a:solidFill>
                  <a:srgbClr val="7BBC69"/>
                </a:solidFill>
                <a:latin typeface="Aptos"/>
              </a:rPr>
              <a:t>02</a:t>
            </a:r>
          </a:p>
        </p:txBody>
      </p:sp>
      <p:sp>
        <p:nvSpPr>
          <p:cNvPr id="232" name="TextBox 231"/>
          <p:cNvSpPr txBox="1"/>
          <p:nvPr/>
        </p:nvSpPr>
        <p:spPr>
          <a:xfrm>
            <a:off x="1508760" y="2962656"/>
            <a:ext cx="3840480" cy="329184"/>
          </a:xfrm>
          <a:prstGeom prst="rect">
            <a:avLst/>
          </a:prstGeom>
          <a:noFill/>
        </p:spPr>
        <p:txBody>
          <a:bodyPr wrap="square" lIns="82296" tIns="54864" rIns="82296" bIns="36576">
            <a:spAutoFit/>
          </a:bodyPr>
          <a:lstStyle/>
          <a:p>
            <a:pPr algn="l">
              <a:spcAft>
                <a:spcPts val="1000"/>
              </a:spcAft>
            </a:pPr>
            <a:r>
              <a:rPr sz="1600" b="1">
                <a:solidFill>
                  <a:srgbClr val="F8FBF7"/>
                </a:solidFill>
                <a:latin typeface="Aptos"/>
              </a:rPr>
              <a:t>Coverage gaps</a:t>
            </a:r>
          </a:p>
        </p:txBody>
      </p:sp>
      <p:sp>
        <p:nvSpPr>
          <p:cNvPr id="233" name="TextBox 232"/>
          <p:cNvSpPr txBox="1"/>
          <p:nvPr/>
        </p:nvSpPr>
        <p:spPr>
          <a:xfrm>
            <a:off x="5577840" y="2953512"/>
            <a:ext cx="5285232" cy="411480"/>
          </a:xfrm>
          <a:prstGeom prst="rect">
            <a:avLst/>
          </a:prstGeom>
          <a:noFill/>
        </p:spPr>
        <p:txBody>
          <a:bodyPr wrap="square" lIns="82296" tIns="54864" rIns="82296" bIns="36576">
            <a:spAutoFit/>
          </a:bodyPr>
          <a:lstStyle/>
          <a:p>
            <a:pPr algn="l">
              <a:spcAft>
                <a:spcPts val="1000"/>
              </a:spcAft>
            </a:pPr>
            <a:r>
              <a:rPr sz="1500" b="0">
                <a:solidFill>
                  <a:srgbClr val="D1D7D6"/>
                </a:solidFill>
                <a:latin typeface="Aptos"/>
              </a:rPr>
              <a:t>Add negative-input, fuzz, and boundary tests.</a:t>
            </a:r>
          </a:p>
        </p:txBody>
      </p:sp>
      <p:sp>
        <p:nvSpPr>
          <p:cNvPr id="234" name="Rounded Rectangle 233"/>
          <p:cNvSpPr/>
          <p:nvPr/>
        </p:nvSpPr>
        <p:spPr>
          <a:xfrm>
            <a:off x="722376" y="3621024"/>
            <a:ext cx="10451592" cy="667512"/>
          </a:xfrm>
          <a:prstGeom prst="roundRect">
            <a:avLst/>
          </a:prstGeom>
          <a:solidFill>
            <a:srgbClr val="0F1F19"/>
          </a:solidFill>
          <a:ln w="12700">
            <a:solidFill>
              <a:srgbClr val="26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 name="TextBox 234"/>
          <p:cNvSpPr txBox="1"/>
          <p:nvPr/>
        </p:nvSpPr>
        <p:spPr>
          <a:xfrm>
            <a:off x="914400" y="3758184"/>
            <a:ext cx="521207" cy="292608"/>
          </a:xfrm>
          <a:prstGeom prst="rect">
            <a:avLst/>
          </a:prstGeom>
          <a:noFill/>
        </p:spPr>
        <p:txBody>
          <a:bodyPr wrap="square" lIns="82296" tIns="54864" rIns="82296" bIns="36576">
            <a:spAutoFit/>
          </a:bodyPr>
          <a:lstStyle/>
          <a:p>
            <a:pPr algn="l">
              <a:spcAft>
                <a:spcPts val="1000"/>
              </a:spcAft>
            </a:pPr>
            <a:r>
              <a:rPr sz="1600" b="1">
                <a:solidFill>
                  <a:srgbClr val="7BBC69"/>
                </a:solidFill>
                <a:latin typeface="Aptos"/>
              </a:rPr>
              <a:t>03</a:t>
            </a:r>
          </a:p>
        </p:txBody>
      </p:sp>
      <p:sp>
        <p:nvSpPr>
          <p:cNvPr id="236" name="TextBox 235"/>
          <p:cNvSpPr txBox="1"/>
          <p:nvPr/>
        </p:nvSpPr>
        <p:spPr>
          <a:xfrm>
            <a:off x="1508760" y="3749039"/>
            <a:ext cx="3840480" cy="329184"/>
          </a:xfrm>
          <a:prstGeom prst="rect">
            <a:avLst/>
          </a:prstGeom>
          <a:noFill/>
        </p:spPr>
        <p:txBody>
          <a:bodyPr wrap="square" lIns="82296" tIns="54864" rIns="82296" bIns="36576">
            <a:spAutoFit/>
          </a:bodyPr>
          <a:lstStyle/>
          <a:p>
            <a:pPr algn="l">
              <a:spcAft>
                <a:spcPts val="1000"/>
              </a:spcAft>
            </a:pPr>
            <a:r>
              <a:rPr sz="1600" b="1">
                <a:solidFill>
                  <a:srgbClr val="F8FBF7"/>
                </a:solidFill>
                <a:latin typeface="Aptos"/>
              </a:rPr>
              <a:t>Policy-to-release traceability</a:t>
            </a:r>
          </a:p>
        </p:txBody>
      </p:sp>
      <p:sp>
        <p:nvSpPr>
          <p:cNvPr id="237" name="TextBox 236"/>
          <p:cNvSpPr txBox="1"/>
          <p:nvPr/>
        </p:nvSpPr>
        <p:spPr>
          <a:xfrm>
            <a:off x="5577840" y="3739896"/>
            <a:ext cx="5285232" cy="411480"/>
          </a:xfrm>
          <a:prstGeom prst="rect">
            <a:avLst/>
          </a:prstGeom>
          <a:noFill/>
        </p:spPr>
        <p:txBody>
          <a:bodyPr wrap="square" lIns="82296" tIns="54864" rIns="82296" bIns="36576">
            <a:spAutoFit/>
          </a:bodyPr>
          <a:lstStyle/>
          <a:p>
            <a:pPr algn="l">
              <a:spcAft>
                <a:spcPts val="1000"/>
              </a:spcAft>
            </a:pPr>
            <a:r>
              <a:rPr sz="1500" b="0">
                <a:solidFill>
                  <a:srgbClr val="D1D7D6"/>
                </a:solidFill>
                <a:latin typeface="Aptos"/>
              </a:rPr>
              <a:t>Map each finding to STD-001…010.</a:t>
            </a:r>
          </a:p>
        </p:txBody>
      </p:sp>
      <p:sp>
        <p:nvSpPr>
          <p:cNvPr id="238" name="Rounded Rectangle 237"/>
          <p:cNvSpPr/>
          <p:nvPr/>
        </p:nvSpPr>
        <p:spPr>
          <a:xfrm>
            <a:off x="722376" y="4407408"/>
            <a:ext cx="10451592" cy="667512"/>
          </a:xfrm>
          <a:prstGeom prst="roundRect">
            <a:avLst/>
          </a:prstGeom>
          <a:solidFill>
            <a:srgbClr val="0F1F19"/>
          </a:solidFill>
          <a:ln w="12700">
            <a:solidFill>
              <a:srgbClr val="26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 name="TextBox 238"/>
          <p:cNvSpPr txBox="1"/>
          <p:nvPr/>
        </p:nvSpPr>
        <p:spPr>
          <a:xfrm>
            <a:off x="914400" y="4544568"/>
            <a:ext cx="521207" cy="292608"/>
          </a:xfrm>
          <a:prstGeom prst="rect">
            <a:avLst/>
          </a:prstGeom>
          <a:noFill/>
        </p:spPr>
        <p:txBody>
          <a:bodyPr wrap="square" lIns="82296" tIns="54864" rIns="82296" bIns="36576">
            <a:spAutoFit/>
          </a:bodyPr>
          <a:lstStyle/>
          <a:p>
            <a:pPr algn="l">
              <a:spcAft>
                <a:spcPts val="1000"/>
              </a:spcAft>
            </a:pPr>
            <a:r>
              <a:rPr sz="1600" b="1">
                <a:solidFill>
                  <a:srgbClr val="7BBC69"/>
                </a:solidFill>
                <a:latin typeface="Aptos"/>
              </a:rPr>
              <a:t>04</a:t>
            </a:r>
          </a:p>
        </p:txBody>
      </p:sp>
      <p:sp>
        <p:nvSpPr>
          <p:cNvPr id="240" name="TextBox 239"/>
          <p:cNvSpPr txBox="1"/>
          <p:nvPr/>
        </p:nvSpPr>
        <p:spPr>
          <a:xfrm>
            <a:off x="1508760" y="4535424"/>
            <a:ext cx="3840480" cy="329184"/>
          </a:xfrm>
          <a:prstGeom prst="rect">
            <a:avLst/>
          </a:prstGeom>
          <a:noFill/>
        </p:spPr>
        <p:txBody>
          <a:bodyPr wrap="square" lIns="82296" tIns="54864" rIns="82296" bIns="36576">
            <a:spAutoFit/>
          </a:bodyPr>
          <a:lstStyle/>
          <a:p>
            <a:pPr algn="l">
              <a:spcAft>
                <a:spcPts val="1000"/>
              </a:spcAft>
            </a:pPr>
            <a:r>
              <a:rPr sz="1600" b="1">
                <a:solidFill>
                  <a:srgbClr val="F8FBF7"/>
                </a:solidFill>
                <a:latin typeface="Aptos"/>
              </a:rPr>
              <a:t>Exception lifecycle</a:t>
            </a:r>
          </a:p>
        </p:txBody>
      </p:sp>
      <p:sp>
        <p:nvSpPr>
          <p:cNvPr id="241" name="TextBox 240"/>
          <p:cNvSpPr txBox="1"/>
          <p:nvPr/>
        </p:nvSpPr>
        <p:spPr>
          <a:xfrm>
            <a:off x="5577840" y="4526280"/>
            <a:ext cx="5285232" cy="411480"/>
          </a:xfrm>
          <a:prstGeom prst="rect">
            <a:avLst/>
          </a:prstGeom>
          <a:noFill/>
        </p:spPr>
        <p:txBody>
          <a:bodyPr wrap="square" lIns="82296" tIns="54864" rIns="82296" bIns="36576">
            <a:spAutoFit/>
          </a:bodyPr>
          <a:lstStyle/>
          <a:p>
            <a:pPr algn="l">
              <a:spcAft>
                <a:spcPts val="1000"/>
              </a:spcAft>
            </a:pPr>
            <a:r>
              <a:rPr sz="1500" b="0">
                <a:solidFill>
                  <a:srgbClr val="D1D7D6"/>
                </a:solidFill>
                <a:latin typeface="Aptos"/>
              </a:rPr>
              <a:t>Require owners, due dates, sign-offs and review.</a:t>
            </a:r>
          </a:p>
        </p:txBody>
      </p:sp>
      <p:sp>
        <p:nvSpPr>
          <p:cNvPr id="242" name="Rounded Rectangle 241"/>
          <p:cNvSpPr/>
          <p:nvPr/>
        </p:nvSpPr>
        <p:spPr>
          <a:xfrm>
            <a:off x="722376" y="5193792"/>
            <a:ext cx="10451592" cy="667512"/>
          </a:xfrm>
          <a:prstGeom prst="roundRect">
            <a:avLst/>
          </a:prstGeom>
          <a:solidFill>
            <a:srgbClr val="0F1F19"/>
          </a:solidFill>
          <a:ln w="12700">
            <a:solidFill>
              <a:srgbClr val="26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 name="TextBox 242"/>
          <p:cNvSpPr txBox="1"/>
          <p:nvPr/>
        </p:nvSpPr>
        <p:spPr>
          <a:xfrm>
            <a:off x="914400" y="5330952"/>
            <a:ext cx="521207" cy="292608"/>
          </a:xfrm>
          <a:prstGeom prst="rect">
            <a:avLst/>
          </a:prstGeom>
          <a:noFill/>
        </p:spPr>
        <p:txBody>
          <a:bodyPr wrap="square" lIns="82296" tIns="54864" rIns="82296" bIns="36576">
            <a:spAutoFit/>
          </a:bodyPr>
          <a:lstStyle/>
          <a:p>
            <a:pPr algn="l">
              <a:spcAft>
                <a:spcPts val="1000"/>
              </a:spcAft>
            </a:pPr>
            <a:r>
              <a:rPr sz="1600" b="1">
                <a:solidFill>
                  <a:srgbClr val="7BBC69"/>
                </a:solidFill>
                <a:latin typeface="Aptos"/>
              </a:rPr>
              <a:t>05</a:t>
            </a:r>
          </a:p>
        </p:txBody>
      </p:sp>
      <p:sp>
        <p:nvSpPr>
          <p:cNvPr id="244" name="TextBox 243"/>
          <p:cNvSpPr txBox="1"/>
          <p:nvPr/>
        </p:nvSpPr>
        <p:spPr>
          <a:xfrm>
            <a:off x="1508760" y="5321807"/>
            <a:ext cx="3840480" cy="329184"/>
          </a:xfrm>
          <a:prstGeom prst="rect">
            <a:avLst/>
          </a:prstGeom>
          <a:noFill/>
        </p:spPr>
        <p:txBody>
          <a:bodyPr wrap="square" lIns="82296" tIns="54864" rIns="82296" bIns="36576">
            <a:spAutoFit/>
          </a:bodyPr>
          <a:lstStyle/>
          <a:p>
            <a:pPr algn="l">
              <a:spcAft>
                <a:spcPts val="1000"/>
              </a:spcAft>
            </a:pPr>
            <a:r>
              <a:rPr sz="1600" b="1">
                <a:solidFill>
                  <a:srgbClr val="F8FBF7"/>
                </a:solidFill>
                <a:latin typeface="Aptos"/>
              </a:rPr>
              <a:t>Audit and monitoring</a:t>
            </a:r>
          </a:p>
        </p:txBody>
      </p:sp>
      <p:sp>
        <p:nvSpPr>
          <p:cNvPr id="245" name="TextBox 244"/>
          <p:cNvSpPr txBox="1"/>
          <p:nvPr/>
        </p:nvSpPr>
        <p:spPr>
          <a:xfrm>
            <a:off x="5577840" y="5312664"/>
            <a:ext cx="5285232" cy="411480"/>
          </a:xfrm>
          <a:prstGeom prst="rect">
            <a:avLst/>
          </a:prstGeom>
          <a:noFill/>
        </p:spPr>
        <p:txBody>
          <a:bodyPr wrap="square" lIns="82296" tIns="54864" rIns="82296" bIns="36576">
            <a:spAutoFit/>
          </a:bodyPr>
          <a:lstStyle/>
          <a:p>
            <a:pPr algn="l">
              <a:spcAft>
                <a:spcPts val="1000"/>
              </a:spcAft>
            </a:pPr>
            <a:r>
              <a:rPr sz="1500" b="0">
                <a:solidFill>
                  <a:srgbClr val="D1D7D6"/>
                </a:solidFill>
                <a:latin typeface="Aptos"/>
              </a:rPr>
              <a:t>Add app/API events to existing infrastructure logs.</a:t>
            </a:r>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82296" tIns="54864" rIns="82296" bIns="36576" anchor="ctr" anchorCtr="0">
            <a:normAutofit/>
          </a:bodyPr>
          <a:lstStyle/>
          <a:p>
            <a:pPr marL="0" lvl="0" indent="0" algn="l" rtl="0">
              <a:lnSpc>
                <a:spcPct val="90000"/>
              </a:lnSpc>
              <a:spcBef>
                <a:spcPts val="0"/>
              </a:spcBef>
              <a:spcAft>
                <a:spcPts val="1000"/>
              </a:spcAft>
              <a:buClr>
                <a:schemeClr val="lt1"/>
              </a:buClr>
              <a:buSzPts val="4000"/>
              <a:buFont typeface="Century Gothic"/>
              <a:buNone/>
            </a:pPr>
            <a:r>
              <a:rPr sz="3000" b="0">
                <a:solidFill>
                  <a:srgbClr val="F8FBF7"/>
                </a:solidFill>
                <a:latin typeface="Aptos"/>
              </a:rPr>
              <a:t>CONCLUSION  |  KEEP IMPROVING</a:t>
            </a:r>
            <a:endParaRPr/>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233" name="Rounded Rectangle 232"/>
          <p:cNvSpPr/>
          <p:nvPr/>
        </p:nvSpPr>
        <p:spPr>
          <a:xfrm>
            <a:off x="749808" y="2286000"/>
            <a:ext cx="10424160" cy="3310128"/>
          </a:xfrm>
          <a:prstGeom prst="roundRect">
            <a:avLst/>
          </a:prstGeom>
          <a:solidFill>
            <a:srgbClr val="0F1F19"/>
          </a:solidFill>
          <a:ln w="12700">
            <a:solidFill>
              <a:srgbClr val="26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 name="TextBox 233"/>
          <p:cNvSpPr txBox="1"/>
          <p:nvPr/>
        </p:nvSpPr>
        <p:spPr>
          <a:xfrm>
            <a:off x="1005840" y="2606040"/>
            <a:ext cx="9784080" cy="438912"/>
          </a:xfrm>
          <a:prstGeom prst="rect">
            <a:avLst/>
          </a:prstGeom>
          <a:noFill/>
        </p:spPr>
        <p:txBody>
          <a:bodyPr wrap="square" lIns="82296" tIns="54864" rIns="82296" bIns="36576">
            <a:spAutoFit/>
          </a:bodyPr>
          <a:lstStyle/>
          <a:p>
            <a:pPr algn="l">
              <a:spcAft>
                <a:spcPts val="1000"/>
              </a:spcAft>
            </a:pPr>
            <a:r>
              <a:rPr sz="2300" b="1">
                <a:solidFill>
                  <a:srgbClr val="98E3AF"/>
                </a:solidFill>
                <a:latin typeface="Aptos"/>
              </a:rPr>
              <a:t>Standardize secure development</a:t>
            </a:r>
          </a:p>
        </p:txBody>
      </p:sp>
      <p:sp>
        <p:nvSpPr>
          <p:cNvPr id="235" name="TextBox 234"/>
          <p:cNvSpPr txBox="1"/>
          <p:nvPr/>
        </p:nvSpPr>
        <p:spPr>
          <a:xfrm>
            <a:off x="1005840" y="3246120"/>
            <a:ext cx="9720072" cy="2103120"/>
          </a:xfrm>
          <a:prstGeom prst="rect">
            <a:avLst/>
          </a:prstGeom>
          <a:noFill/>
        </p:spPr>
        <p:txBody>
          <a:bodyPr wrap="square" lIns="82296" tIns="54864" rIns="82296" bIns="36576">
            <a:spAutoFit/>
          </a:bodyPr>
          <a:lstStyle/>
          <a:p>
            <a:pPr algn="l">
              <a:spcAft>
                <a:spcPts val="1000"/>
              </a:spcAft>
            </a:pPr>
            <a:r>
              <a:rPr sz="1900" b="0">
                <a:solidFill>
                  <a:srgbClr val="F8FBF7"/>
                </a:solidFill>
                <a:latin typeface="Aptos"/>
              </a:rPr>
              <a:t>•  Enforce the 10 policy standards in code review and CI.</a:t>
            </a:r>
          </a:p>
          <a:p>
            <a:pPr algn="l">
              <a:spcAft>
                <a:spcPts val="1000"/>
              </a:spcAft>
            </a:pPr>
            <a:r>
              <a:rPr sz="1900" b="0">
                <a:solidFill>
                  <a:srgbClr val="F8FBF7"/>
                </a:solidFill>
                <a:latin typeface="Aptos"/>
              </a:rPr>
              <a:t>•  Make risk-weighted gates and unit tests repeatable.</a:t>
            </a:r>
          </a:p>
          <a:p>
            <a:pPr algn="l">
              <a:spcAft>
                <a:spcPts val="1000"/>
              </a:spcAft>
            </a:pPr>
            <a:r>
              <a:rPr sz="1900" b="0">
                <a:solidFill>
                  <a:srgbClr val="F8FBF7"/>
                </a:solidFill>
                <a:latin typeface="Aptos"/>
              </a:rPr>
              <a:t>•  Preserve scan, test, approval, and exception evidence.</a:t>
            </a:r>
          </a:p>
          <a:p>
            <a:pPr algn="l">
              <a:spcAft>
                <a:spcPts val="1000"/>
              </a:spcAft>
            </a:pPr>
            <a:r>
              <a:rPr sz="1900" b="0">
                <a:solidFill>
                  <a:srgbClr val="F8FBF7"/>
                </a:solidFill>
                <a:latin typeface="Aptos"/>
              </a:rPr>
              <a:t>•  Review the policy annually and after significant changes.</a:t>
            </a:r>
          </a:p>
        </p:txBody>
      </p:sp>
      <p:sp>
        <p:nvSpPr>
          <p:cNvPr id="236" name="TextBox 235"/>
          <p:cNvSpPr txBox="1"/>
          <p:nvPr/>
        </p:nvSpPr>
        <p:spPr>
          <a:xfrm>
            <a:off x="786384" y="6117336"/>
            <a:ext cx="10515600" cy="237744"/>
          </a:xfrm>
          <a:prstGeom prst="rect">
            <a:avLst/>
          </a:prstGeom>
          <a:noFill/>
        </p:spPr>
        <p:txBody>
          <a:bodyPr wrap="square" lIns="82296" tIns="54864" rIns="82296" bIns="36576">
            <a:spAutoFit/>
          </a:bodyPr>
          <a:lstStyle/>
          <a:p>
            <a:pPr algn="l">
              <a:spcAft>
                <a:spcPts val="1000"/>
              </a:spcAft>
            </a:pPr>
            <a:r>
              <a:rPr sz="1200" b="1">
                <a:solidFill>
                  <a:srgbClr val="D1D7D6"/>
                </a:solidFill>
                <a:latin typeface="Aptos"/>
              </a:rPr>
              <a:t>GOAL: FEWER PREVENTABLE DEFECTS AND MORE DEFENSIBLE RELEASES</a:t>
            </a: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82296" tIns="54864" rIns="82296" bIns="36576" anchor="ctr" anchorCtr="0">
            <a:normAutofit/>
          </a:bodyPr>
          <a:lstStyle/>
          <a:p>
            <a:pPr marL="0" lvl="0" indent="0" algn="l" rtl="0">
              <a:lnSpc>
                <a:spcPct val="90000"/>
              </a:lnSpc>
              <a:spcBef>
                <a:spcPts val="0"/>
              </a:spcBef>
              <a:spcAft>
                <a:spcPts val="1000"/>
              </a:spcAft>
              <a:buClr>
                <a:schemeClr val="lt1"/>
              </a:buClr>
              <a:buSzPts val="4000"/>
              <a:buFont typeface="Century Gothic"/>
              <a:buNone/>
            </a:pPr>
            <a:r>
              <a:rPr sz="3000" b="0">
                <a:solidFill>
                  <a:srgbClr val="F8FBF7"/>
                </a:solidFill>
                <a:latin typeface="Aptos"/>
              </a:rPr>
              <a:t>REFERENCES  |  CORE SOURCES</a:t>
            </a:r>
            <a:endParaRPr/>
          </a:p>
        </p:txBody>
      </p:sp>
      <p:pic>
        <p:nvPicPr>
          <p:cNvPr id="239" name="Google Shape;239;p1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240" name="TextBox 239"/>
          <p:cNvSpPr txBox="1"/>
          <p:nvPr/>
        </p:nvSpPr>
        <p:spPr>
          <a:xfrm>
            <a:off x="768096" y="2240280"/>
            <a:ext cx="10424160" cy="4059936"/>
          </a:xfrm>
          <a:prstGeom prst="rect">
            <a:avLst/>
          </a:prstGeom>
          <a:noFill/>
        </p:spPr>
        <p:txBody>
          <a:bodyPr wrap="square" lIns="82296" tIns="54864" rIns="82296" bIns="36576">
            <a:spAutoFit/>
          </a:bodyPr>
          <a:lstStyle/>
          <a:p>
            <a:pPr algn="l">
              <a:spcAft>
                <a:spcPts val="1000"/>
              </a:spcAft>
            </a:pPr>
            <a:r>
              <a:rPr sz="1360" b="0">
                <a:solidFill>
                  <a:srgbClr val="F8FBF7"/>
                </a:solidFill>
                <a:latin typeface="Aptos"/>
              </a:rPr>
              <a:t>Dhot, G. (2026). Green Pace secure development policy guide [Unpublished course project].</a:t>
            </a:r>
          </a:p>
          <a:p>
            <a:pPr algn="l">
              <a:spcAft>
                <a:spcPts val="1000"/>
              </a:spcAft>
            </a:pPr>
            <a:r>
              <a:rPr sz="1360" b="0">
                <a:solidFill>
                  <a:srgbClr val="F8FBF7"/>
                </a:solidFill>
                <a:latin typeface="Aptos"/>
              </a:rPr>
              <a:t>Carnegie Mellon University, SEI. (n.d.). SEI CERT C++ coding standard.</a:t>
            </a:r>
          </a:p>
          <a:p>
            <a:pPr algn="l">
              <a:spcAft>
                <a:spcPts val="1000"/>
              </a:spcAft>
            </a:pPr>
            <a:r>
              <a:rPr sz="1360" b="0">
                <a:solidFill>
                  <a:srgbClr val="F8FBF7"/>
                </a:solidFill>
                <a:latin typeface="Aptos"/>
              </a:rPr>
              <a:t>https://cmu-sei.github.io/secure-coding-standards/sei-cert-cpp-coding-standard/rules/</a:t>
            </a:r>
          </a:p>
          <a:p>
            <a:pPr algn="l">
              <a:spcAft>
                <a:spcPts val="1000"/>
              </a:spcAft>
            </a:pPr>
            <a:r>
              <a:rPr sz="1360" b="0">
                <a:solidFill>
                  <a:srgbClr val="F8FBF7"/>
                </a:solidFill>
                <a:latin typeface="Aptos"/>
              </a:rPr>
              <a:t>Microsoft. (n.d.). Unit testing C++ in Visual Studio. https://learn.microsoft.com/en-us/visualstudio/test/writing-unit-tests-for-c-cpp</a:t>
            </a:r>
          </a:p>
          <a:p>
            <a:pPr algn="l">
              <a:spcAft>
                <a:spcPts val="1000"/>
              </a:spcAft>
            </a:pPr>
            <a:r>
              <a:rPr sz="1360" b="0">
                <a:solidFill>
                  <a:srgbClr val="F8FBF7"/>
                </a:solidFill>
                <a:latin typeface="Aptos"/>
              </a:rPr>
              <a:t>Cppcheck. (n.d.). Cppcheck static analysis tool. https://github.com/danmar/cppcheck</a:t>
            </a:r>
          </a:p>
          <a:p>
            <a:pPr algn="l">
              <a:spcAft>
                <a:spcPts val="1000"/>
              </a:spcAft>
            </a:pPr>
            <a:r>
              <a:rPr sz="1360" b="0">
                <a:solidFill>
                  <a:srgbClr val="F8FBF7"/>
                </a:solidFill>
                <a:latin typeface="Aptos"/>
              </a:rPr>
              <a:t>LLVM Project. (n.d.). Clang AddressSanitizer. https://clang.llvm.org/docs/AddressSanitizer.html</a:t>
            </a:r>
          </a:p>
          <a:p>
            <a:pPr algn="l">
              <a:spcAft>
                <a:spcPts val="1000"/>
              </a:spcAft>
            </a:pPr>
            <a:r>
              <a:rPr sz="1360" b="0">
                <a:solidFill>
                  <a:srgbClr val="F8FBF7"/>
                </a:solidFill>
                <a:latin typeface="Aptos"/>
              </a:rPr>
              <a:t>GitHub. (n.d.). CodeQL: C++ SQL injection query. https://codeql.github.com/codeql-query-help/cpp/cpp-sql-injection/</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customXml/itemProps3.xml><?xml version="1.0" encoding="utf-8"?>
<ds:datastoreItem xmlns:ds="http://schemas.openxmlformats.org/officeDocument/2006/customXml" ds:itemID="{F398236C-7FA9-40C9-B456-AA158A506A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39</TotalTime>
  <Words>1330</Words>
  <Application>Microsoft Office PowerPoint</Application>
  <PresentationFormat>Widescreen</PresentationFormat>
  <Paragraphs>218</Paragraphs>
  <Slides>20</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Aptos</vt:lpstr>
      <vt:lpstr>Century Gothic</vt:lpstr>
      <vt:lpstr>Vapor Trail</vt:lpstr>
      <vt:lpstr>Green Pace</vt:lpstr>
      <vt:lpstr>OVERVIEW  |  DEFENSE IN DEPTH</vt:lpstr>
      <vt:lpstr>THREATS MATRIX  |  PROPOSED RISK</vt:lpstr>
      <vt:lpstr>10 PRINCIPLES  |  POLICY ALIGNMENT</vt:lpstr>
      <vt:lpstr>CODING STANDARDS  |  TRIAGE ORDER</vt:lpstr>
      <vt:lpstr>ENCRYPTION  |  THREE DATA STATES</vt:lpstr>
      <vt:lpstr>TRIPLE-A  |  IDENTITY AND EVIDENCE</vt:lpstr>
      <vt:lpstr>UNIT TESTING  |  CONTAINER BOUNDS</vt:lpstr>
      <vt:lpstr>PowerPoint Presentation</vt:lpstr>
      <vt:lpstr>PowerPoint Presentation</vt:lpstr>
      <vt:lpstr>PowerPoint Presentation</vt:lpstr>
      <vt:lpstr>PowerPoint Presentation</vt:lpstr>
      <vt:lpstr>PowerPoint Presentation</vt:lpstr>
      <vt:lpstr>PowerPoint Presentation</vt:lpstr>
      <vt:lpstr>AUTOMATION SUMMARY  |  SECURITY EVERYWHERE</vt:lpstr>
      <vt:lpstr>DEVSECOPS  |  TOOLS AND CHECKPOINTS</vt:lpstr>
      <vt:lpstr>RISKS AND BENEFITS  |  ACT OR WAIT?</vt:lpstr>
      <vt:lpstr>RECOMMENDATIONS  |  CLOSE THE GAPS</vt:lpstr>
      <vt:lpstr>CONCLUSION  |  KEEP IMPROVING</vt:lpstr>
      <vt:lpstr>REFERENCES  |  CORE 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Dhot, Gurman</cp:lastModifiedBy>
  <cp:revision>6</cp:revision>
  <dcterms:created xsi:type="dcterms:W3CDTF">2020-08-19T17:59:24Z</dcterms:created>
  <dcterms:modified xsi:type="dcterms:W3CDTF">2026-10-18T21:59:04Z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